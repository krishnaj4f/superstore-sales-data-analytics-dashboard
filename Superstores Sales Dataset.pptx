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19"/>
  </p:notesMasterIdLst>
  <p:sldIdLst>
    <p:sldId id="256" r:id="rId4"/>
    <p:sldId id="272" r:id="rId5"/>
    <p:sldId id="285" r:id="rId6"/>
    <p:sldId id="273" r:id="rId7"/>
    <p:sldId id="274" r:id="rId8"/>
    <p:sldId id="276" r:id="rId9"/>
    <p:sldId id="286" r:id="rId10"/>
    <p:sldId id="284" r:id="rId11"/>
    <p:sldId id="275" r:id="rId12"/>
    <p:sldId id="282" r:id="rId13"/>
    <p:sldId id="287" r:id="rId14"/>
    <p:sldId id="278" r:id="rId15"/>
    <p:sldId id="280" r:id="rId16"/>
    <p:sldId id="288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3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9D0"/>
    <a:srgbClr val="E48592"/>
    <a:srgbClr val="393762"/>
    <a:srgbClr val="833AB4"/>
    <a:srgbClr val="FEAC5D"/>
    <a:srgbClr val="4BC0C8"/>
    <a:srgbClr val="FD1D1D"/>
    <a:srgbClr val="FCB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10" y="48"/>
      </p:cViewPr>
      <p:guideLst>
        <p:guide orient="horz" pos="2304"/>
        <p:guide pos="3840"/>
        <p:guide pos="144"/>
        <p:guide pos="7512"/>
        <p:guide orient="horz" pos="648"/>
        <p:guide orient="horz" pos="3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Microsoft_Excel_Worksheet3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393762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63C-4EF5-B2C8-4DB43C57B6E9}"/>
              </c:ext>
            </c:extLst>
          </c:dPt>
          <c:dPt>
            <c:idx val="1"/>
            <c:bubble3D val="0"/>
            <c:spPr>
              <a:solidFill>
                <a:srgbClr val="E48592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2-063C-4EF5-B2C8-4DB43C57B6E9}"/>
              </c:ext>
            </c:extLst>
          </c:dPt>
          <c:dPt>
            <c:idx val="2"/>
            <c:bubble3D val="0"/>
            <c:spPr>
              <a:solidFill>
                <a:srgbClr val="C779D0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063C-4EF5-B2C8-4DB43C57B6E9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C-4EF5-B2C8-4DB43C57B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393762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063C-4EF5-B2C8-4DB43C57B6E9}"/>
              </c:ext>
            </c:extLst>
          </c:dPt>
          <c:dPt>
            <c:idx val="1"/>
            <c:bubble3D val="0"/>
            <c:spPr>
              <a:solidFill>
                <a:srgbClr val="E48592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2-063C-4EF5-B2C8-4DB43C57B6E9}"/>
              </c:ext>
            </c:extLst>
          </c:dPt>
          <c:dPt>
            <c:idx val="2"/>
            <c:bubble3D val="0"/>
            <c:spPr>
              <a:solidFill>
                <a:srgbClr val="C779D0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063C-4EF5-B2C8-4DB43C57B6E9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C-4EF5-B2C8-4DB43C57B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389050857151926E-2"/>
          <c:y val="5.6623450775465621E-2"/>
          <c:w val="0.85224025939636594"/>
          <c:h val="0.86131037864071647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E4859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25-4971-9487-3597D9F0C0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39376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25-4971-9487-3597D9F0C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6834752"/>
        <c:axId val="1959372752"/>
      </c:areaChart>
      <c:dateAx>
        <c:axId val="1666834752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959372752"/>
        <c:crosses val="autoZero"/>
        <c:auto val="1"/>
        <c:lblOffset val="100"/>
        <c:baseTimeUnit val="days"/>
      </c:dateAx>
      <c:valAx>
        <c:axId val="19593727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68347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7">Leaf 8</cx:pt>
          <cx:pt idx="9">Leaf 10</cx:pt>
          <cx:pt idx="10">Leaf 11</cx:pt>
          <cx:pt idx="11">Leaf 12</cx:pt>
          <cx:pt idx="12">Leaf 13</cx:pt>
          <cx:pt idx="13">Leaf 14</cx:pt>
          <cx:pt idx="14">Leaf 15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plotArea>
      <cx:plotAreaRegion>
        <cx:series layoutId="sunburst" uniqueId="{66F720EE-9B63-4D3B-BB11-25A0965250BC}">
          <cx:tx>
            <cx:txData>
              <cx:f>Sheet1!$D$1</cx:f>
              <cx:v>Series1</cx:v>
            </cx:txData>
          </cx:tx>
          <cx:dataPt idx="0">
            <cx:spPr>
              <a:solidFill>
                <a:srgbClr val="393762"/>
              </a:solidFill>
            </cx:spPr>
          </cx:dataPt>
          <cx:dataPt idx="10">
            <cx:spPr>
              <a:solidFill>
                <a:srgbClr val="C779D0"/>
              </a:solidFill>
            </cx:spPr>
          </cx:dataPt>
          <cx:dataPt idx="17">
            <cx:spPr>
              <a:solidFill>
                <a:srgbClr val="E48592"/>
              </a:solidFill>
            </cx:spPr>
          </cx:dataPt>
          <cx:dataId val="0"/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Leaf 1</cx:pt>
          <cx:pt idx="1">Leaf 2</cx:pt>
          <cx:pt idx="2">Leaf 3</cx:pt>
          <cx:pt idx="3">Leaf 4</cx:pt>
          <cx:pt idx="4">Leaf 5</cx:pt>
          <cx:pt idx="7">Leaf 8</cx:pt>
          <cx:pt idx="9">Leaf 10</cx:pt>
          <cx:pt idx="10">Leaf 11</cx:pt>
          <cx:pt idx="11">Leaf 12</cx:pt>
          <cx:pt idx="12">Leaf 13</cx:pt>
          <cx:pt idx="13">Leaf 14</cx:pt>
          <cx:pt idx="14">Leaf 15</cx:pt>
        </cx:lvl>
        <cx:lvl ptCount="16">
          <cx:pt idx="0">Stem 1</cx:pt>
          <cx:pt idx="1">Stem 1</cx:pt>
          <cx:pt idx="2">Stem 1</cx:pt>
          <cx:pt idx="3">Stem 2</cx:pt>
          <cx:pt idx="4">Stem 2</cx:pt>
          <cx:pt idx="5">Leaf 6</cx:pt>
          <cx:pt idx="6">Leaf 7</cx:pt>
          <cx:pt idx="7">Stem 3</cx:pt>
          <cx:pt idx="8">Leaf 9</cx:pt>
          <cx:pt idx="9">Stem 4</cx:pt>
          <cx:pt idx="10">Stem 4</cx:pt>
          <cx:pt idx="11">Stem 5</cx:pt>
          <cx:pt idx="12">Stem 5</cx:pt>
          <cx:pt idx="13">Stem 6</cx:pt>
          <cx:pt idx="14">Stem 6</cx:pt>
          <cx:pt idx="15">Leaf 16</cx:pt>
        </cx:lvl>
        <cx:lvl ptCount="16">
          <cx:pt idx="0">Branch 1</cx:pt>
          <cx:pt idx="1">Branch 1</cx:pt>
          <cx:pt idx="2">Branch 1</cx:pt>
          <cx:pt idx="3">Branch 1</cx:pt>
          <cx:pt idx="4">Branch 1</cx:pt>
          <cx:pt idx="5">Branch 1</cx:pt>
          <cx:pt idx="6">Branch 1</cx:pt>
          <cx:pt idx="7">Branch 2</cx:pt>
          <cx:pt idx="8">Branch 2</cx:pt>
          <cx:pt idx="9">Branch 2</cx:pt>
          <cx:pt idx="10">Branch 2</cx:pt>
          <cx:pt idx="11">Branch 3</cx:pt>
          <cx:pt idx="12">Branch 3</cx:pt>
          <cx:pt idx="13">Branch 3</cx:pt>
          <cx:pt idx="14">Branch 3</cx:pt>
          <cx:pt idx="15">Branch 3</cx:pt>
        </cx:lvl>
      </cx:strDim>
      <cx:numDim type="size">
        <cx:f>Sheet1!$D$2:$D$17</cx:f>
        <cx:lvl ptCount="16" formatCode="General">
          <cx:pt idx="0">22</cx:pt>
          <cx:pt idx="1">12</cx:pt>
          <cx:pt idx="2">18</cx:pt>
          <cx:pt idx="3">87</cx:pt>
          <cx:pt idx="4">88</cx:pt>
          <cx:pt idx="5">17</cx:pt>
          <cx:pt idx="6">14</cx:pt>
          <cx:pt idx="7">25</cx:pt>
          <cx:pt idx="8">16</cx:pt>
          <cx:pt idx="9">24</cx:pt>
          <cx:pt idx="10">89</cx:pt>
          <cx:pt idx="11">16</cx:pt>
          <cx:pt idx="12">19</cx:pt>
          <cx:pt idx="13">86</cx:pt>
          <cx:pt idx="14">23</cx:pt>
          <cx:pt idx="15">21</cx:pt>
        </cx:lvl>
      </cx:numDim>
    </cx:data>
  </cx:chartData>
  <cx:chart>
    <cx:plotArea>
      <cx:plotAreaRegion>
        <cx:series layoutId="sunburst" uniqueId="{66F720EE-9B63-4D3B-BB11-25A0965250BC}">
          <cx:tx>
            <cx:txData>
              <cx:f>Sheet1!$D$1</cx:f>
              <cx:v>Series1</cx:v>
            </cx:txData>
          </cx:tx>
          <cx:dataPt idx="0">
            <cx:spPr>
              <a:solidFill>
                <a:srgbClr val="393762"/>
              </a:solidFill>
            </cx:spPr>
          </cx:dataPt>
          <cx:dataPt idx="10">
            <cx:spPr>
              <a:solidFill>
                <a:srgbClr val="C779D0"/>
              </a:solidFill>
            </cx:spPr>
          </cx:dataPt>
          <cx:dataPt idx="17">
            <cx:spPr>
              <a:solidFill>
                <a:srgbClr val="E48592"/>
              </a:solidFill>
            </cx:spPr>
          </cx:dataPt>
          <cx:dataId val="0"/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811A5-9370-4CD1-A0D4-DF8583E2EEAC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D6629-F0F2-42A4-AB3C-EA9C90927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7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46D3C-7248-4466-83D3-3CA300DE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88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25F9F-3E3B-6C65-5FE9-F7FD8DB1B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0AD5D-0F61-87CB-20E2-321963743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332FF-7664-2855-7AB6-4D9430CC9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DE9B4-0395-B4D8-15A7-38910F141A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46D3C-7248-4466-83D3-3CA300DE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066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8EE67-7A75-494E-98A3-D8E57C5B2C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7039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8A86F-EC00-46CA-96EE-FD422515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CEE9F-789A-4521-8868-1FF0A8248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9676F-1F52-414A-871B-8490CBCCA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1C31F-E25C-4394-86CB-15E6C2CAB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CDA01-97F2-40A6-9620-A3A5D798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35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859C-E8FF-4ADE-B1BB-C8FB2CFA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339DA-2A10-43AB-9323-242D0CB76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BFD4B-E7DD-4AC0-831B-13887BD9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EDA7D-1A9E-4914-B8E4-92C3B58A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34B7E-6445-4DAE-B97C-32D39C07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1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E7F8-77F3-43EC-A30B-EB8FAB3E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63B27-6122-4D12-82D5-DA07FC58D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2B296-EB69-46B1-84B8-1EAAE1CE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ADE76-2231-41B7-8A57-23AD2384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451AE-847D-461C-B940-22E8D724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30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1E74-18A5-46A5-A046-FE063C66F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47D94-3A6B-4C68-8D92-6C18A51BB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FD9CE-CA42-4052-A891-E21E6E552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73AA8-1990-41B1-B353-28F18BBB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8BFB-1A53-4FC7-9355-15F5B2CD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1C9F0-2EE5-4A9D-A07C-85299A21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0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66E5-87A3-4CAF-B3AF-73C7DF639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60785-A227-427B-B336-BA50E15EB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02B63-1FB8-4E30-8C28-36077E31E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54F6B-3897-4C9A-9B33-B91440646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2723E-A884-47B0-B9F0-0CCEC35DF3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C39C2-C260-42E4-9ED4-5A2C5317E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4B5C8D-7B2B-48DC-8667-57484B82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4CD44B-5E8F-4307-B3E8-D21D9F15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61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8565-5774-41A6-8340-0503AA09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9D0D1F-D572-4904-B1F3-CD711F28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5A22A-BA80-4B4F-AD8A-F7377BE6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F9AD6-CB48-47E7-9163-F53148A6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1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63A9F-260C-4294-90DA-CB639DDB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B24B7-B41C-4CBB-9BCC-891FC540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B0BFC-4EA2-4A85-95A4-5933E71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28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D7F3-94B3-41FD-AC4C-4468ED0F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6766C-CD60-4C29-94CF-0D8CDC7D9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72B6F-F375-4BDF-8FF8-FD7E227C7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2BA85-ADF1-4747-B0C0-76353F0A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D7E06-BD21-4B3E-A137-EFE198FE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6929C-D76B-49E7-A531-460ACC842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9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232A-FAAF-4A3E-8CA4-5EE96C4D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389F9-8216-4830-92CB-C6BDC4700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2D1A3-F447-4A0A-BD89-9D6D0458C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3C963-C9AC-48CF-B5F3-347ECA77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02C9F-3234-4B30-8ADB-24F0A387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EC7DC-A3CB-47D4-9091-9C74C22C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0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00127-036C-4CB5-9911-DD9C28B3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83947-F3A6-418D-96F2-8FD75C556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E3E06-6B2C-449F-B8E7-59372FD3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50D57-E808-450B-BDD2-232A18F1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8099E-E98B-40C4-974B-1E9964CC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2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0A537-25A5-4B5B-9281-D33E2ABFE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F8FDE-E5FE-4668-A121-9AD9212B3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F3055-DD70-42C1-AF7D-E08C0794C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3C89-587A-4A10-BE2A-AED45D73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7881F-6BC7-40FD-B30F-C6811062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12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06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7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63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48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223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86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209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62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69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2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01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2944-CD9C-4FB5-A0C7-621A87A14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A7A3C-8298-4925-A0A3-9F70AC2E3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22B87-6FB9-4F87-9810-35B694640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18847-C315-4C55-BAC6-03A1AA491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EFE00-2D12-4406-A95C-1BF14567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270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1366-174D-45EC-BD88-F980D865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D19A8-AEB8-482D-8F13-BD953F276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14B90-F6E9-4D26-BF69-ADB349AE3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A9DAD-013C-4027-AC7F-A2AAAA2B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D2A19-F4FC-464C-A55F-C1F1EC14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61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1DF1-25B7-4BD8-9F8B-54F33DD5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3E3BE-DCBE-4CC8-AE86-9E96D746A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44162-8E49-40DF-8692-8FB349E9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2F110-54AD-4733-B2C4-45795637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AD72D-AD80-4370-83B6-7D021E16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158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F4D9-B1D4-4FA8-BE90-C9A41B6A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D55B0-8F63-4EEF-B0E7-7C75A1174A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80715-75E6-47D3-BEF2-8A624C5BE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F89AE-869E-4E2D-9588-8AF3590B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3D75F-B6D6-4039-B62C-329B91C6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70461-BA24-499A-B94A-19E31A6D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1B67-6486-48A8-B9C6-7BE28C93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535E5-85A8-43D5-85D9-1403528DC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23761-ACD7-49EC-8C79-547A8B85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70B13-9F25-4D7F-A6D3-97F952DD5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145D64-1B69-4E69-B93F-B23272660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9291D-DFEF-4309-A378-1A60B9DF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E80C2C-58F2-4673-9183-A499A392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61F43F-0C1C-49FF-B2D8-DD903388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491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368A-4E93-4D7F-9029-6B4A8596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D54615-DDA5-41AB-8C27-2188BD72B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D342C-DAB3-4157-B778-EFC95EE20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5F55A-9201-488E-AD35-FB37F93A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902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5EE7F-3DBB-469C-8B64-5324DB38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89D70-E202-4768-9202-B93B4CC2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20AB1-86F0-4A4D-AB07-3A153ECF4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313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C2A4-9622-47DC-9B00-882CFED8C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07FE0-67C3-4BD1-A829-F9EDDCA98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67AA2-DB24-4F1F-AC5D-904E0CCE6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5683E-49FA-4718-BA99-F90E7215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0B357-5E8C-4950-A575-B1C527F2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E7806-9CDA-4464-8F4B-BAE85BA5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56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DB20-43E3-4E51-A101-622596DD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A13BB-A760-4669-9B11-D15A7BDB8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D4BBC-2FD9-4B8A-88B0-35CB3581A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4F2F8-80FD-42A4-B42B-C3D3DCE8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9931A-BE13-412E-A8D6-63FA3A2C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7B004-9AA7-427F-B5A5-18E854131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410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FA138-C7C0-4413-ADD4-F97B1AEF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27381-0812-4282-8564-A4BB14CD6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49AF-F275-4D23-B3CA-B1F58957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D026-52B4-4CAC-B30F-7A45316AC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3BAD2-6024-4D9A-B7BC-8FA72980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94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30284-B27F-4104-B5B1-05A5071F1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10ED5-CAA1-40F1-AB4B-E2FD570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BB4D-9461-468D-9E3E-B158058E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E6E61-3A80-477F-AFA0-95EDACED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3A61A-93A7-448A-8C7F-A54957DC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1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C37481-8B09-423E-8106-CE47240A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38118-3F4E-4ECE-9519-348816AED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03D80-8B85-4560-A6EA-536F5F75E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6625D-0372-4564-8F2D-2B4020413F40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A14D9-F782-4BE9-94F1-EA9967B05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49A7A-8A14-4E04-9F9B-CEC9F7D92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E5E57-0193-45F1-AA6D-ABE38BBAD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41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13383-EE07-4969-9B07-761D27C57D14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22C54-87D3-4C96-99E4-6E65A62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8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CE782-4944-490A-912E-EB22A1E83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61255-6D00-444E-BA2F-F1F8294C4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2255-5B30-4F80-A486-2667EAA52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802500-2DCA-4720-8360-6E74C26DD0EA}" type="datetimeFigureOut">
              <a:rPr lang="en-US" smtClean="0"/>
              <a:t>01-Sep-25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56C37-A666-4386-93EC-C50FD9DF79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3D8C-70E5-4120-972F-7D4FAE998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72E3D-61E0-450A-AD62-EE98E4860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2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6509CD6B-CB19-47C3-AFDE-63B72A9F6775}"/>
              </a:ext>
            </a:extLst>
          </p:cNvPr>
          <p:cNvSpPr/>
          <p:nvPr/>
        </p:nvSpPr>
        <p:spPr>
          <a:xfrm>
            <a:off x="3975102" y="789550"/>
            <a:ext cx="4241798" cy="4794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8D45D9-D04D-404E-80AB-855D80BEF8E4}"/>
              </a:ext>
            </a:extLst>
          </p:cNvPr>
          <p:cNvSpPr/>
          <p:nvPr/>
        </p:nvSpPr>
        <p:spPr>
          <a:xfrm>
            <a:off x="0" y="1268993"/>
            <a:ext cx="12192000" cy="22854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2D3B92B-E20F-4AF3-B6B2-FC251836C85F}"/>
              </a:ext>
            </a:extLst>
          </p:cNvPr>
          <p:cNvSpPr/>
          <p:nvPr/>
        </p:nvSpPr>
        <p:spPr>
          <a:xfrm>
            <a:off x="190500" y="190500"/>
            <a:ext cx="11811000" cy="6477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65C0853-2996-4DE6-ACCB-A959CCC7DA4B}"/>
              </a:ext>
            </a:extLst>
          </p:cNvPr>
          <p:cNvSpPr/>
          <p:nvPr/>
        </p:nvSpPr>
        <p:spPr>
          <a:xfrm>
            <a:off x="2360599" y="1245395"/>
            <a:ext cx="7274213" cy="4567577"/>
          </a:xfrm>
          <a:prstGeom prst="round2SameRect">
            <a:avLst>
              <a:gd name="adj1" fmla="val 0"/>
              <a:gd name="adj2" fmla="val 5238"/>
            </a:avLst>
          </a:pr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0130BC3-948B-43A5-A0BF-E7F97C09EF57}"/>
              </a:ext>
            </a:extLst>
          </p:cNvPr>
          <p:cNvGrpSpPr/>
          <p:nvPr/>
        </p:nvGrpSpPr>
        <p:grpSpPr>
          <a:xfrm>
            <a:off x="190500" y="1644078"/>
            <a:ext cx="1969030" cy="4674172"/>
            <a:chOff x="2780529" y="2112972"/>
            <a:chExt cx="1759468" cy="417670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83CF7F3-685F-48B7-8C0C-727C0AF2B9EB}"/>
                </a:ext>
              </a:extLst>
            </p:cNvPr>
            <p:cNvSpPr/>
            <p:nvPr/>
          </p:nvSpPr>
          <p:spPr>
            <a:xfrm>
              <a:off x="2780529" y="5978420"/>
              <a:ext cx="1579799" cy="311255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7B77A1E-8E43-4B79-B6D0-16E9FF7B8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0198" y="2112972"/>
              <a:ext cx="1579799" cy="4081453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F06C73-D25E-44A1-85A5-58BF87BC8532}"/>
              </a:ext>
            </a:extLst>
          </p:cNvPr>
          <p:cNvGrpSpPr/>
          <p:nvPr/>
        </p:nvGrpSpPr>
        <p:grpSpPr>
          <a:xfrm>
            <a:off x="9825917" y="2373210"/>
            <a:ext cx="1743127" cy="3977411"/>
            <a:chOff x="7765802" y="2312265"/>
            <a:chExt cx="1743127" cy="397741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FC32821-C4A0-4A4E-B99D-0C440CFBD683}"/>
                </a:ext>
              </a:extLst>
            </p:cNvPr>
            <p:cNvSpPr/>
            <p:nvPr/>
          </p:nvSpPr>
          <p:spPr>
            <a:xfrm>
              <a:off x="7765802" y="5946242"/>
              <a:ext cx="1743127" cy="34343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5124B78-B00A-4554-8ACA-CC30A7FDB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6116" y="2312265"/>
              <a:ext cx="1323850" cy="3882160"/>
            </a:xfrm>
            <a:prstGeom prst="rect">
              <a:avLst/>
            </a:prstGeom>
          </p:spPr>
        </p:pic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2C2692-DDED-4C36-8F3D-C005BCE68811}"/>
              </a:ext>
            </a:extLst>
          </p:cNvPr>
          <p:cNvCxnSpPr/>
          <p:nvPr/>
        </p:nvCxnSpPr>
        <p:spPr>
          <a:xfrm>
            <a:off x="0" y="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6ECDF7-482B-4631-A0B8-5997F93543C8}"/>
              </a:ext>
            </a:extLst>
          </p:cNvPr>
          <p:cNvCxnSpPr>
            <a:cxnSpLocks/>
          </p:cNvCxnSpPr>
          <p:nvPr/>
        </p:nvCxnSpPr>
        <p:spPr>
          <a:xfrm flipH="1">
            <a:off x="11747500" y="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D98185-5ED5-4200-AB94-ACD0A50571E6}"/>
              </a:ext>
            </a:extLst>
          </p:cNvPr>
          <p:cNvCxnSpPr>
            <a:cxnSpLocks/>
          </p:cNvCxnSpPr>
          <p:nvPr/>
        </p:nvCxnSpPr>
        <p:spPr>
          <a:xfrm flipH="1" flipV="1">
            <a:off x="11747500" y="641350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79547C1-EF99-4FFF-BC2B-6544609941F5}"/>
              </a:ext>
            </a:extLst>
          </p:cNvPr>
          <p:cNvCxnSpPr>
            <a:cxnSpLocks/>
          </p:cNvCxnSpPr>
          <p:nvPr/>
        </p:nvCxnSpPr>
        <p:spPr>
          <a:xfrm flipV="1">
            <a:off x="0" y="641350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4CC0BF5-386E-B292-FBD0-2296FED984EF}"/>
              </a:ext>
            </a:extLst>
          </p:cNvPr>
          <p:cNvSpPr txBox="1"/>
          <p:nvPr/>
        </p:nvSpPr>
        <p:spPr>
          <a:xfrm>
            <a:off x="2775284" y="1644078"/>
            <a:ext cx="685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Reinforcement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15CE9-8A14-CB9A-3617-1309852D5799}"/>
              </a:ext>
            </a:extLst>
          </p:cNvPr>
          <p:cNvSpPr txBox="1"/>
          <p:nvPr/>
        </p:nvSpPr>
        <p:spPr>
          <a:xfrm>
            <a:off x="2666236" y="3360183"/>
            <a:ext cx="30126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sym typeface="Times New Roman"/>
              </a:rPr>
              <a:t>Name: </a:t>
            </a:r>
          </a:p>
          <a:p>
            <a:r>
              <a:rPr lang="en-US" sz="2800" dirty="0">
                <a:solidFill>
                  <a:schemeClr val="bg1"/>
                </a:solidFill>
                <a:sym typeface="Times New Roman"/>
              </a:rPr>
              <a:t>Krishna Kumar</a:t>
            </a:r>
          </a:p>
          <a:p>
            <a:endParaRPr lang="en-US" sz="2800" dirty="0">
              <a:solidFill>
                <a:schemeClr val="bg1"/>
              </a:solidFill>
              <a:sym typeface="Times New Roman"/>
            </a:endParaRPr>
          </a:p>
          <a:p>
            <a:r>
              <a:rPr lang="en-US" sz="2800" b="1" dirty="0">
                <a:solidFill>
                  <a:schemeClr val="bg1"/>
                </a:solidFill>
                <a:sym typeface="Times New Roman"/>
              </a:rPr>
              <a:t>Date: </a:t>
            </a:r>
            <a:r>
              <a:rPr lang="en-US" sz="2800" dirty="0">
                <a:solidFill>
                  <a:schemeClr val="bg1"/>
                </a:solidFill>
                <a:sym typeface="Times New Roman"/>
              </a:rPr>
              <a:t>28-08-2025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D6B0E-4122-C533-D898-C343035365F3}"/>
              </a:ext>
            </a:extLst>
          </p:cNvPr>
          <p:cNvSpPr txBox="1"/>
          <p:nvPr/>
        </p:nvSpPr>
        <p:spPr>
          <a:xfrm>
            <a:off x="6009220" y="3190905"/>
            <a:ext cx="34297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sym typeface="Times New Roman"/>
              </a:rPr>
              <a:t>Course: </a:t>
            </a:r>
          </a:p>
          <a:p>
            <a:r>
              <a:rPr lang="en-US" sz="2800" dirty="0">
                <a:solidFill>
                  <a:schemeClr val="bg1"/>
                </a:solidFill>
                <a:sym typeface="Times New Roman"/>
              </a:rPr>
              <a:t>Data Analytics and Data Science</a:t>
            </a:r>
          </a:p>
          <a:p>
            <a:endParaRPr lang="en-US" sz="2800" dirty="0">
              <a:solidFill>
                <a:schemeClr val="bg1"/>
              </a:solidFill>
              <a:sym typeface="Times New Roman"/>
            </a:endParaRPr>
          </a:p>
          <a:p>
            <a:r>
              <a:rPr lang="en-US" sz="2800" b="1" dirty="0">
                <a:solidFill>
                  <a:schemeClr val="bg1"/>
                </a:solidFill>
                <a:sym typeface="Times New Roman"/>
              </a:rPr>
              <a:t>Batch: </a:t>
            </a:r>
            <a:r>
              <a:rPr lang="en-US" sz="2800" dirty="0">
                <a:solidFill>
                  <a:schemeClr val="bg1"/>
                </a:solidFill>
                <a:sym typeface="Times New Roman"/>
              </a:rPr>
              <a:t>July</a:t>
            </a:r>
            <a:r>
              <a:rPr lang="en-US" sz="2800" b="1" dirty="0">
                <a:solidFill>
                  <a:schemeClr val="bg1"/>
                </a:solidFill>
                <a:sym typeface="Times New Roman"/>
              </a:rPr>
              <a:t> </a:t>
            </a:r>
            <a:r>
              <a:rPr lang="en-US" sz="2800" dirty="0">
                <a:solidFill>
                  <a:schemeClr val="bg1"/>
                </a:solidFill>
                <a:sym typeface="Times New Roman"/>
              </a:rPr>
              <a:t>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72943-1773-4AC3-2F1F-30FCFC7CE7E0}"/>
              </a:ext>
            </a:extLst>
          </p:cNvPr>
          <p:cNvSpPr txBox="1"/>
          <p:nvPr/>
        </p:nvSpPr>
        <p:spPr>
          <a:xfrm>
            <a:off x="2657210" y="2571126"/>
            <a:ext cx="6029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sym typeface="Times New Roman"/>
              </a:rPr>
              <a:t>Dataset Used: </a:t>
            </a:r>
            <a:r>
              <a:rPr lang="en-US" sz="2800" dirty="0">
                <a:solidFill>
                  <a:schemeClr val="bg1"/>
                </a:solidFill>
                <a:sym typeface="Times New Roman"/>
              </a:rPr>
              <a:t>Superstore sales</a:t>
            </a:r>
          </a:p>
        </p:txBody>
      </p:sp>
    </p:spTree>
    <p:extLst>
      <p:ext uri="{BB962C8B-B14F-4D97-AF65-F5344CB8AC3E}">
        <p14:creationId xmlns:p14="http://schemas.microsoft.com/office/powerpoint/2010/main" val="3268077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714A87C3-3EFB-4722-BF0D-17138DEB6B2B}"/>
              </a:ext>
            </a:extLst>
          </p:cNvPr>
          <p:cNvGrpSpPr/>
          <p:nvPr/>
        </p:nvGrpSpPr>
        <p:grpSpPr>
          <a:xfrm>
            <a:off x="0" y="4954136"/>
            <a:ext cx="12192000" cy="1909138"/>
            <a:chOff x="0" y="4948862"/>
            <a:chExt cx="12192000" cy="190913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99197A-1F6B-4498-BD1A-1E735D7E4EB6}"/>
                </a:ext>
              </a:extLst>
            </p:cNvPr>
            <p:cNvSpPr/>
            <p:nvPr/>
          </p:nvSpPr>
          <p:spPr>
            <a:xfrm>
              <a:off x="0" y="4948862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1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9C80C8E-5A49-482B-8FB1-2FEACFCA5ACA}"/>
                </a:ext>
              </a:extLst>
            </p:cNvPr>
            <p:cNvSpPr/>
            <p:nvPr/>
          </p:nvSpPr>
          <p:spPr>
            <a:xfrm>
              <a:off x="0" y="5525852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C2F9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681360-99F0-411F-872E-D08276548030}"/>
              </a:ext>
            </a:extLst>
          </p:cNvPr>
          <p:cNvGrpSpPr/>
          <p:nvPr/>
        </p:nvGrpSpPr>
        <p:grpSpPr>
          <a:xfrm>
            <a:off x="541277" y="637331"/>
            <a:ext cx="10536162" cy="2003381"/>
            <a:chOff x="500751" y="632830"/>
            <a:chExt cx="3433074" cy="20033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3714BC-1D6D-47E8-BDBC-A4EE1D7C9B24}"/>
                </a:ext>
              </a:extLst>
            </p:cNvPr>
            <p:cNvSpPr/>
            <p:nvPr/>
          </p:nvSpPr>
          <p:spPr>
            <a:xfrm>
              <a:off x="500751" y="632830"/>
              <a:ext cx="3433074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3D65"/>
                  </a:solidFill>
                  <a:effectLst/>
                  <a:uLnTx/>
                  <a:uFillTx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Project Objective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1FD8C54-4C3F-44EA-9673-BD480EC120A6}"/>
                </a:ext>
              </a:extLst>
            </p:cNvPr>
            <p:cNvGrpSpPr/>
            <p:nvPr/>
          </p:nvGrpSpPr>
          <p:grpSpPr>
            <a:xfrm>
              <a:off x="682503" y="2143768"/>
              <a:ext cx="822348" cy="492443"/>
              <a:chOff x="718186" y="1982987"/>
              <a:chExt cx="822348" cy="492443"/>
            </a:xfrm>
          </p:grpSpPr>
          <p:sp>
            <p:nvSpPr>
              <p:cNvPr id="72" name="Rectangle: Top Corners Rounded 71">
                <a:extLst>
                  <a:ext uri="{FF2B5EF4-FFF2-40B4-BE49-F238E27FC236}">
                    <a16:creationId xmlns:a16="http://schemas.microsoft.com/office/drawing/2014/main" id="{F9F599E6-86AE-4B41-BC36-8002888C50B5}"/>
                  </a:ext>
                </a:extLst>
              </p:cNvPr>
              <p:cNvSpPr/>
              <p:nvPr/>
            </p:nvSpPr>
            <p:spPr>
              <a:xfrm rot="5400000">
                <a:off x="883138" y="1818035"/>
                <a:ext cx="492443" cy="822348"/>
              </a:xfrm>
              <a:prstGeom prst="round2SameRect">
                <a:avLst>
                  <a:gd name="adj1" fmla="val 40598"/>
                  <a:gd name="adj2" fmla="val 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FB2F49C-CAAC-49C0-9DAB-BA185649FBDC}"/>
                  </a:ext>
                </a:extLst>
              </p:cNvPr>
              <p:cNvSpPr/>
              <p:nvPr/>
            </p:nvSpPr>
            <p:spPr>
              <a:xfrm>
                <a:off x="818314" y="2062257"/>
                <a:ext cx="529876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83D65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Key Goals</a:t>
                </a:r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F470A24-3691-EFA0-309E-74A0938F6593}"/>
              </a:ext>
            </a:extLst>
          </p:cNvPr>
          <p:cNvSpPr/>
          <p:nvPr/>
        </p:nvSpPr>
        <p:spPr>
          <a:xfrm>
            <a:off x="1099075" y="1439814"/>
            <a:ext cx="7547213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To review sales data to ﬁnd trends, understand how well products are selling, and provide useful ideas for business improvements.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390913-515A-BCF8-AF7E-A5B8FA9BF8C4}"/>
              </a:ext>
            </a:extLst>
          </p:cNvPr>
          <p:cNvSpPr/>
          <p:nvPr/>
        </p:nvSpPr>
        <p:spPr>
          <a:xfrm>
            <a:off x="1406372" y="2971481"/>
            <a:ext cx="7547213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Examine sales patterns across different time periods.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Highlight top-selling products and the most effective sales platforms.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Assess how returns and discount strategies affect overall revenue.</a:t>
            </a:r>
          </a:p>
        </p:txBody>
      </p:sp>
    </p:spTree>
    <p:extLst>
      <p:ext uri="{BB962C8B-B14F-4D97-AF65-F5344CB8AC3E}">
        <p14:creationId xmlns:p14="http://schemas.microsoft.com/office/powerpoint/2010/main" val="344319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3F7D0-BBA8-4D38-95EB-7AE3C157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AB5828BE-BF14-39A3-0D07-30505A481A18}"/>
              </a:ext>
            </a:extLst>
          </p:cNvPr>
          <p:cNvGrpSpPr/>
          <p:nvPr/>
        </p:nvGrpSpPr>
        <p:grpSpPr>
          <a:xfrm>
            <a:off x="0" y="4954136"/>
            <a:ext cx="12192000" cy="1909138"/>
            <a:chOff x="0" y="4948862"/>
            <a:chExt cx="12192000" cy="190913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D0A9E99-1663-B9BD-92FD-3187CD584855}"/>
                </a:ext>
              </a:extLst>
            </p:cNvPr>
            <p:cNvSpPr/>
            <p:nvPr/>
          </p:nvSpPr>
          <p:spPr>
            <a:xfrm>
              <a:off x="0" y="4948862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1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EABAD7E-0D62-3553-AD6E-BD7316AC75AE}"/>
                </a:ext>
              </a:extLst>
            </p:cNvPr>
            <p:cNvSpPr/>
            <p:nvPr/>
          </p:nvSpPr>
          <p:spPr>
            <a:xfrm>
              <a:off x="0" y="5525852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C2F9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961BF7-C2FC-BD81-F827-34260FFBCC5C}"/>
              </a:ext>
            </a:extLst>
          </p:cNvPr>
          <p:cNvGrpSpPr/>
          <p:nvPr/>
        </p:nvGrpSpPr>
        <p:grpSpPr>
          <a:xfrm>
            <a:off x="541277" y="637331"/>
            <a:ext cx="10536162" cy="1123268"/>
            <a:chOff x="500751" y="632830"/>
            <a:chExt cx="3433074" cy="11232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4DB74B-6935-10C3-1640-1FE7B3F89E2B}"/>
                </a:ext>
              </a:extLst>
            </p:cNvPr>
            <p:cNvSpPr/>
            <p:nvPr/>
          </p:nvSpPr>
          <p:spPr>
            <a:xfrm>
              <a:off x="500751" y="632830"/>
              <a:ext cx="3433074" cy="49244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83D65"/>
                  </a:solidFill>
                  <a:effectLst/>
                  <a:uLnTx/>
                  <a:uFillTx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rPr>
                <a:t>Data Description and Preparation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E34DC15-BD33-C6D7-D76D-D8879D239179}"/>
                </a:ext>
              </a:extLst>
            </p:cNvPr>
            <p:cNvGrpSpPr/>
            <p:nvPr/>
          </p:nvGrpSpPr>
          <p:grpSpPr>
            <a:xfrm>
              <a:off x="554273" y="1263653"/>
              <a:ext cx="676111" cy="492445"/>
              <a:chOff x="589956" y="1102872"/>
              <a:chExt cx="676111" cy="492445"/>
            </a:xfrm>
          </p:grpSpPr>
          <p:sp>
            <p:nvSpPr>
              <p:cNvPr id="72" name="Rectangle: Top Corners Rounded 71">
                <a:extLst>
                  <a:ext uri="{FF2B5EF4-FFF2-40B4-BE49-F238E27FC236}">
                    <a16:creationId xmlns:a16="http://schemas.microsoft.com/office/drawing/2014/main" id="{6F2886A4-EA85-DB76-66DB-9D8C9BDF2632}"/>
                  </a:ext>
                </a:extLst>
              </p:cNvPr>
              <p:cNvSpPr/>
              <p:nvPr/>
            </p:nvSpPr>
            <p:spPr>
              <a:xfrm rot="5400000">
                <a:off x="651192" y="1041636"/>
                <a:ext cx="492445" cy="614918"/>
              </a:xfrm>
              <a:prstGeom prst="round2SameRect">
                <a:avLst>
                  <a:gd name="adj1" fmla="val 40598"/>
                  <a:gd name="adj2" fmla="val 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A824B73-FB1A-0176-5795-15BDA06305B7}"/>
                  </a:ext>
                </a:extLst>
              </p:cNvPr>
              <p:cNvSpPr/>
              <p:nvPr/>
            </p:nvSpPr>
            <p:spPr>
              <a:xfrm>
                <a:off x="736191" y="1210593"/>
                <a:ext cx="529876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rgbClr val="083D65"/>
                    </a:solidFill>
                    <a:latin typeface="Segoe UI" panose="020B0502040204020203" pitchFamily="34" charset="0"/>
                    <a:ea typeface="Open Sans" panose="020B0606030504020204" pitchFamily="34" charset="0"/>
                    <a:cs typeface="Segoe UI" panose="020B0502040204020203" pitchFamily="34" charset="0"/>
                  </a:rPr>
                  <a:t>Overview:</a:t>
                </a:r>
                <a:endPara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083D65"/>
                  </a:solidFill>
                  <a:effectLst/>
                  <a:uLnTx/>
                  <a:uFillTx/>
                  <a:latin typeface="Segoe UI" panose="020B0502040204020203" pitchFamily="34" charset="0"/>
                  <a:ea typeface="Open Sans" panose="020B0606030504020204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7CB8D638-11FA-1B1E-88EF-F2E8ACA8DCFF}"/>
              </a:ext>
            </a:extLst>
          </p:cNvPr>
          <p:cNvSpPr/>
          <p:nvPr/>
        </p:nvSpPr>
        <p:spPr>
          <a:xfrm>
            <a:off x="1452092" y="1868321"/>
            <a:ext cx="10328428" cy="40626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Order ID / Sale ID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– Unique identifiers for transactions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Order Date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– Timestamp of each purchase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Product Type / Category / Sub-Category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– Classification of items sold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Sales, Quantity, Discount, Profit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– Financial metrics for each sale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Customer and Region Info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– Including city, state, and segment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Shipping Details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– Ship mode and shipping date</a:t>
            </a:r>
          </a:p>
        </p:txBody>
      </p:sp>
    </p:spTree>
    <p:extLst>
      <p:ext uri="{BB962C8B-B14F-4D97-AF65-F5344CB8AC3E}">
        <p14:creationId xmlns:p14="http://schemas.microsoft.com/office/powerpoint/2010/main" val="3149484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26519E81-C48F-4DC1-8447-5AA3137BE5EE}"/>
              </a:ext>
            </a:extLst>
          </p:cNvPr>
          <p:cNvSpPr/>
          <p:nvPr/>
        </p:nvSpPr>
        <p:spPr>
          <a:xfrm>
            <a:off x="0" y="629160"/>
            <a:ext cx="4128424" cy="6228840"/>
          </a:xfrm>
          <a:prstGeom prst="rect">
            <a:avLst/>
          </a:prstGeom>
          <a:solidFill>
            <a:srgbClr val="DCEC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A23E82-4ADA-4290-A732-46C59CED37BE}"/>
              </a:ext>
            </a:extLst>
          </p:cNvPr>
          <p:cNvSpPr/>
          <p:nvPr/>
        </p:nvSpPr>
        <p:spPr>
          <a:xfrm>
            <a:off x="4538841" y="843677"/>
            <a:ext cx="7242744" cy="51706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Removed duplicate records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Handled missing values using appropriate imputation or removal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Standardized date formats and numerical fields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Converted categorical fields for consistency (e.g., product types, regions)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Validated data types for accurate analysis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4E8360-63F3-4F18-817E-6FBC4551EF0D}"/>
              </a:ext>
            </a:extLst>
          </p:cNvPr>
          <p:cNvSpPr/>
          <p:nvPr/>
        </p:nvSpPr>
        <p:spPr>
          <a:xfrm>
            <a:off x="410416" y="990398"/>
            <a:ext cx="3307591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468DC3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Data Cleaning Steps</a:t>
            </a:r>
          </a:p>
        </p:txBody>
      </p:sp>
    </p:spTree>
    <p:extLst>
      <p:ext uri="{BB962C8B-B14F-4D97-AF65-F5344CB8AC3E}">
        <p14:creationId xmlns:p14="http://schemas.microsoft.com/office/powerpoint/2010/main" val="138064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1AA2A670-4772-4504-9A86-BE460BACA39F}"/>
              </a:ext>
            </a:extLst>
          </p:cNvPr>
          <p:cNvSpPr/>
          <p:nvPr/>
        </p:nvSpPr>
        <p:spPr>
          <a:xfrm>
            <a:off x="2732747" y="530093"/>
            <a:ext cx="672650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83D6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Clean Dataset After Manipulation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84" name="Rounded Rectangle 109">
            <a:extLst>
              <a:ext uri="{FF2B5EF4-FFF2-40B4-BE49-F238E27FC236}">
                <a16:creationId xmlns:a16="http://schemas.microsoft.com/office/drawing/2014/main" id="{FE924B0A-EE56-47DC-A2B2-4E228E4169C0}"/>
              </a:ext>
            </a:extLst>
          </p:cNvPr>
          <p:cNvSpPr/>
          <p:nvPr/>
        </p:nvSpPr>
        <p:spPr>
          <a:xfrm>
            <a:off x="10744964" y="6914539"/>
            <a:ext cx="2094671" cy="354514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BED403C-A43A-4B47-BB94-C2A67956DCC4}"/>
              </a:ext>
            </a:extLst>
          </p:cNvPr>
          <p:cNvGrpSpPr/>
          <p:nvPr/>
        </p:nvGrpSpPr>
        <p:grpSpPr>
          <a:xfrm>
            <a:off x="-1" y="4941426"/>
            <a:ext cx="12192000" cy="1909138"/>
            <a:chOff x="0" y="4948862"/>
            <a:chExt cx="12192000" cy="1909138"/>
          </a:xfrm>
        </p:grpSpPr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45A43FA3-E6AD-4BC1-8F03-3B181CC959C7}"/>
                </a:ext>
              </a:extLst>
            </p:cNvPr>
            <p:cNvSpPr/>
            <p:nvPr/>
          </p:nvSpPr>
          <p:spPr>
            <a:xfrm>
              <a:off x="0" y="4948862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F1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A3F741A2-2517-494A-868D-957D47F779A9}"/>
                </a:ext>
              </a:extLst>
            </p:cNvPr>
            <p:cNvSpPr/>
            <p:nvPr/>
          </p:nvSpPr>
          <p:spPr>
            <a:xfrm>
              <a:off x="0" y="5563852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C2F9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6A9CE9-2DC3-AAD6-FDFC-44376A581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0" y="1703473"/>
            <a:ext cx="12012945" cy="340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2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252347A-73EF-4021-A502-2D02F6F1D190}"/>
              </a:ext>
            </a:extLst>
          </p:cNvPr>
          <p:cNvSpPr/>
          <p:nvPr/>
        </p:nvSpPr>
        <p:spPr>
          <a:xfrm rot="10800000">
            <a:off x="4911725" y="1"/>
            <a:ext cx="7280275" cy="1238863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F4964F9-79AB-4BE1-9862-76CE4510D553}"/>
              </a:ext>
            </a:extLst>
          </p:cNvPr>
          <p:cNvSpPr/>
          <p:nvPr/>
        </p:nvSpPr>
        <p:spPr>
          <a:xfrm>
            <a:off x="-3175" y="5619137"/>
            <a:ext cx="7280275" cy="1238863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67D406-5165-4360-8C1C-324029DCCE25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Key Metrics Calculation and Data Analysis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898B017-1B69-4575-897D-D6C34C6346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498513"/>
              </p:ext>
            </p:extLst>
          </p:nvPr>
        </p:nvGraphicFramePr>
        <p:xfrm>
          <a:off x="-3175" y="2539666"/>
          <a:ext cx="5194074" cy="3462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A1825EAF-FA93-415F-99DC-73698BF9D57B}"/>
              </a:ext>
            </a:extLst>
          </p:cNvPr>
          <p:cNvSpPr/>
          <p:nvPr/>
        </p:nvSpPr>
        <p:spPr>
          <a:xfrm>
            <a:off x="1881417" y="3410811"/>
            <a:ext cx="1424890" cy="638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514EB3-96FD-4E87-BCEA-4EA42AE51780}"/>
              </a:ext>
            </a:extLst>
          </p:cNvPr>
          <p:cNvSpPr/>
          <p:nvPr/>
        </p:nvSpPr>
        <p:spPr>
          <a:xfrm>
            <a:off x="4911724" y="1153658"/>
            <a:ext cx="6442075" cy="8151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937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457200" bIns="0" rtlCol="0" anchor="ctr"/>
          <a:lstStyle/>
          <a:p>
            <a:pPr algn="ctr">
              <a:buClr>
                <a:schemeClr val="accent1"/>
              </a:buClr>
            </a:pPr>
            <a:r>
              <a:rPr lang="en-US" sz="2000" b="1" dirty="0">
                <a:solidFill>
                  <a:schemeClr val="tx1"/>
                </a:solidFill>
              </a:rPr>
              <a:t>KPI’S USED AND ITS FORMULA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74DEE18-1746-4BF2-8B91-E7239491A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259" y="964737"/>
            <a:ext cx="953423" cy="2795892"/>
          </a:xfrm>
          <a:prstGeom prst="rect">
            <a:avLst/>
          </a:prstGeom>
        </p:spPr>
      </p:pic>
      <p:sp>
        <p:nvSpPr>
          <p:cNvPr id="81" name="Oval 80">
            <a:extLst>
              <a:ext uri="{FF2B5EF4-FFF2-40B4-BE49-F238E27FC236}">
                <a16:creationId xmlns:a16="http://schemas.microsoft.com/office/drawing/2014/main" id="{159DD79E-6029-4532-A015-554E094617DB}"/>
              </a:ext>
            </a:extLst>
          </p:cNvPr>
          <p:cNvSpPr/>
          <p:nvPr/>
        </p:nvSpPr>
        <p:spPr>
          <a:xfrm>
            <a:off x="5104097" y="1246219"/>
            <a:ext cx="630038" cy="630038"/>
          </a:xfrm>
          <a:prstGeom prst="ellipse">
            <a:avLst/>
          </a:prstGeom>
          <a:solidFill>
            <a:srgbClr val="393762"/>
          </a:solidFill>
          <a:ln w="38100"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7CCBE10-556C-4590-8E98-F5992E8D8E0D}"/>
              </a:ext>
            </a:extLst>
          </p:cNvPr>
          <p:cNvGrpSpPr/>
          <p:nvPr/>
        </p:nvGrpSpPr>
        <p:grpSpPr>
          <a:xfrm>
            <a:off x="11053837" y="3513931"/>
            <a:ext cx="287338" cy="287338"/>
            <a:chOff x="8736013" y="1925638"/>
            <a:chExt cx="287338" cy="287338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5FFA4391-6B0A-4A5A-B258-457CBBBA0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36013" y="1925638"/>
              <a:ext cx="287338" cy="287338"/>
            </a:xfrm>
            <a:custGeom>
              <a:avLst/>
              <a:gdLst>
                <a:gd name="T0" fmla="*/ 481 w 902"/>
                <a:gd name="T1" fmla="*/ 863 h 902"/>
                <a:gd name="T2" fmla="*/ 872 w 902"/>
                <a:gd name="T3" fmla="*/ 219 h 902"/>
                <a:gd name="T4" fmla="*/ 30 w 902"/>
                <a:gd name="T5" fmla="*/ 219 h 902"/>
                <a:gd name="T6" fmla="*/ 451 w 902"/>
                <a:gd name="T7" fmla="*/ 864 h 902"/>
                <a:gd name="T8" fmla="*/ 30 w 902"/>
                <a:gd name="T9" fmla="*/ 219 h 902"/>
                <a:gd name="T10" fmla="*/ 54 w 902"/>
                <a:gd name="T11" fmla="*/ 197 h 902"/>
                <a:gd name="T12" fmla="*/ 648 w 902"/>
                <a:gd name="T13" fmla="*/ 290 h 902"/>
                <a:gd name="T14" fmla="*/ 466 w 902"/>
                <a:gd name="T15" fmla="*/ 32 h 902"/>
                <a:gd name="T16" fmla="*/ 683 w 902"/>
                <a:gd name="T17" fmla="*/ 274 h 902"/>
                <a:gd name="T18" fmla="*/ 466 w 902"/>
                <a:gd name="T19" fmla="*/ 32 h 902"/>
                <a:gd name="T20" fmla="*/ 902 w 902"/>
                <a:gd name="T21" fmla="*/ 195 h 902"/>
                <a:gd name="T22" fmla="*/ 901 w 902"/>
                <a:gd name="T23" fmla="*/ 191 h 902"/>
                <a:gd name="T24" fmla="*/ 901 w 902"/>
                <a:gd name="T25" fmla="*/ 190 h 902"/>
                <a:gd name="T26" fmla="*/ 898 w 902"/>
                <a:gd name="T27" fmla="*/ 186 h 902"/>
                <a:gd name="T28" fmla="*/ 898 w 902"/>
                <a:gd name="T29" fmla="*/ 185 h 902"/>
                <a:gd name="T30" fmla="*/ 896 w 902"/>
                <a:gd name="T31" fmla="*/ 184 h 902"/>
                <a:gd name="T32" fmla="*/ 893 w 902"/>
                <a:gd name="T33" fmla="*/ 183 h 902"/>
                <a:gd name="T34" fmla="*/ 892 w 902"/>
                <a:gd name="T35" fmla="*/ 182 h 902"/>
                <a:gd name="T36" fmla="*/ 469 w 902"/>
                <a:gd name="T37" fmla="*/ 0 h 902"/>
                <a:gd name="T38" fmla="*/ 463 w 902"/>
                <a:gd name="T39" fmla="*/ 0 h 902"/>
                <a:gd name="T40" fmla="*/ 10 w 902"/>
                <a:gd name="T41" fmla="*/ 182 h 902"/>
                <a:gd name="T42" fmla="*/ 9 w 902"/>
                <a:gd name="T43" fmla="*/ 183 h 902"/>
                <a:gd name="T44" fmla="*/ 6 w 902"/>
                <a:gd name="T45" fmla="*/ 184 h 902"/>
                <a:gd name="T46" fmla="*/ 4 w 902"/>
                <a:gd name="T47" fmla="*/ 185 h 902"/>
                <a:gd name="T48" fmla="*/ 4 w 902"/>
                <a:gd name="T49" fmla="*/ 186 h 902"/>
                <a:gd name="T50" fmla="*/ 1 w 902"/>
                <a:gd name="T51" fmla="*/ 189 h 902"/>
                <a:gd name="T52" fmla="*/ 1 w 902"/>
                <a:gd name="T53" fmla="*/ 190 h 902"/>
                <a:gd name="T54" fmla="*/ 0 w 902"/>
                <a:gd name="T55" fmla="*/ 195 h 902"/>
                <a:gd name="T56" fmla="*/ 0 w 902"/>
                <a:gd name="T57" fmla="*/ 195 h 902"/>
                <a:gd name="T58" fmla="*/ 0 w 902"/>
                <a:gd name="T59" fmla="*/ 195 h 902"/>
                <a:gd name="T60" fmla="*/ 0 w 902"/>
                <a:gd name="T61" fmla="*/ 681 h 902"/>
                <a:gd name="T62" fmla="*/ 5 w 902"/>
                <a:gd name="T63" fmla="*/ 688 h 902"/>
                <a:gd name="T64" fmla="*/ 460 w 902"/>
                <a:gd name="T65" fmla="*/ 901 h 902"/>
                <a:gd name="T66" fmla="*/ 461 w 902"/>
                <a:gd name="T67" fmla="*/ 901 h 902"/>
                <a:gd name="T68" fmla="*/ 466 w 902"/>
                <a:gd name="T69" fmla="*/ 902 h 902"/>
                <a:gd name="T70" fmla="*/ 472 w 902"/>
                <a:gd name="T71" fmla="*/ 901 h 902"/>
                <a:gd name="T72" fmla="*/ 472 w 902"/>
                <a:gd name="T73" fmla="*/ 900 h 902"/>
                <a:gd name="T74" fmla="*/ 897 w 902"/>
                <a:gd name="T75" fmla="*/ 688 h 902"/>
                <a:gd name="T76" fmla="*/ 901 w 902"/>
                <a:gd name="T77" fmla="*/ 681 h 902"/>
                <a:gd name="T78" fmla="*/ 902 w 902"/>
                <a:gd name="T79" fmla="*/ 195 h 902"/>
                <a:gd name="T80" fmla="*/ 902 w 902"/>
                <a:gd name="T81" fmla="*/ 195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02" h="902">
                  <a:moveTo>
                    <a:pt x="872" y="668"/>
                  </a:moveTo>
                  <a:lnTo>
                    <a:pt x="481" y="863"/>
                  </a:lnTo>
                  <a:lnTo>
                    <a:pt x="481" y="401"/>
                  </a:lnTo>
                  <a:lnTo>
                    <a:pt x="872" y="219"/>
                  </a:lnTo>
                  <a:lnTo>
                    <a:pt x="872" y="668"/>
                  </a:lnTo>
                  <a:close/>
                  <a:moveTo>
                    <a:pt x="30" y="219"/>
                  </a:moveTo>
                  <a:lnTo>
                    <a:pt x="451" y="401"/>
                  </a:lnTo>
                  <a:lnTo>
                    <a:pt x="451" y="864"/>
                  </a:lnTo>
                  <a:lnTo>
                    <a:pt x="30" y="667"/>
                  </a:lnTo>
                  <a:lnTo>
                    <a:pt x="30" y="219"/>
                  </a:lnTo>
                  <a:close/>
                  <a:moveTo>
                    <a:pt x="466" y="374"/>
                  </a:moveTo>
                  <a:lnTo>
                    <a:pt x="54" y="197"/>
                  </a:lnTo>
                  <a:lnTo>
                    <a:pt x="266" y="112"/>
                  </a:lnTo>
                  <a:lnTo>
                    <a:pt x="648" y="290"/>
                  </a:lnTo>
                  <a:lnTo>
                    <a:pt x="466" y="374"/>
                  </a:lnTo>
                  <a:close/>
                  <a:moveTo>
                    <a:pt x="466" y="32"/>
                  </a:moveTo>
                  <a:lnTo>
                    <a:pt x="851" y="197"/>
                  </a:lnTo>
                  <a:lnTo>
                    <a:pt x="683" y="274"/>
                  </a:lnTo>
                  <a:lnTo>
                    <a:pt x="304" y="97"/>
                  </a:lnTo>
                  <a:lnTo>
                    <a:pt x="466" y="32"/>
                  </a:lnTo>
                  <a:close/>
                  <a:moveTo>
                    <a:pt x="902" y="195"/>
                  </a:moveTo>
                  <a:lnTo>
                    <a:pt x="902" y="195"/>
                  </a:lnTo>
                  <a:lnTo>
                    <a:pt x="902" y="193"/>
                  </a:lnTo>
                  <a:lnTo>
                    <a:pt x="901" y="191"/>
                  </a:lnTo>
                  <a:lnTo>
                    <a:pt x="901" y="190"/>
                  </a:lnTo>
                  <a:lnTo>
                    <a:pt x="901" y="190"/>
                  </a:lnTo>
                  <a:lnTo>
                    <a:pt x="900" y="188"/>
                  </a:lnTo>
                  <a:lnTo>
                    <a:pt x="898" y="186"/>
                  </a:lnTo>
                  <a:lnTo>
                    <a:pt x="898" y="186"/>
                  </a:lnTo>
                  <a:lnTo>
                    <a:pt x="898" y="185"/>
                  </a:lnTo>
                  <a:lnTo>
                    <a:pt x="897" y="184"/>
                  </a:lnTo>
                  <a:lnTo>
                    <a:pt x="896" y="184"/>
                  </a:lnTo>
                  <a:lnTo>
                    <a:pt x="895" y="183"/>
                  </a:lnTo>
                  <a:lnTo>
                    <a:pt x="893" y="183"/>
                  </a:lnTo>
                  <a:lnTo>
                    <a:pt x="893" y="183"/>
                  </a:lnTo>
                  <a:lnTo>
                    <a:pt x="892" y="182"/>
                  </a:lnTo>
                  <a:lnTo>
                    <a:pt x="471" y="2"/>
                  </a:lnTo>
                  <a:lnTo>
                    <a:pt x="469" y="0"/>
                  </a:lnTo>
                  <a:lnTo>
                    <a:pt x="466" y="0"/>
                  </a:lnTo>
                  <a:lnTo>
                    <a:pt x="463" y="0"/>
                  </a:lnTo>
                  <a:lnTo>
                    <a:pt x="461" y="2"/>
                  </a:lnTo>
                  <a:lnTo>
                    <a:pt x="10" y="182"/>
                  </a:lnTo>
                  <a:lnTo>
                    <a:pt x="9" y="182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6" y="184"/>
                  </a:lnTo>
                  <a:lnTo>
                    <a:pt x="5" y="184"/>
                  </a:lnTo>
                  <a:lnTo>
                    <a:pt x="4" y="185"/>
                  </a:lnTo>
                  <a:lnTo>
                    <a:pt x="4" y="185"/>
                  </a:lnTo>
                  <a:lnTo>
                    <a:pt x="4" y="186"/>
                  </a:lnTo>
                  <a:lnTo>
                    <a:pt x="2" y="187"/>
                  </a:lnTo>
                  <a:lnTo>
                    <a:pt x="1" y="189"/>
                  </a:lnTo>
                  <a:lnTo>
                    <a:pt x="1" y="190"/>
                  </a:lnTo>
                  <a:lnTo>
                    <a:pt x="1" y="190"/>
                  </a:lnTo>
                  <a:lnTo>
                    <a:pt x="0" y="19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676"/>
                  </a:lnTo>
                  <a:lnTo>
                    <a:pt x="0" y="681"/>
                  </a:lnTo>
                  <a:lnTo>
                    <a:pt x="2" y="685"/>
                  </a:lnTo>
                  <a:lnTo>
                    <a:pt x="5" y="688"/>
                  </a:lnTo>
                  <a:lnTo>
                    <a:pt x="9" y="690"/>
                  </a:lnTo>
                  <a:lnTo>
                    <a:pt x="460" y="901"/>
                  </a:lnTo>
                  <a:lnTo>
                    <a:pt x="460" y="901"/>
                  </a:lnTo>
                  <a:lnTo>
                    <a:pt x="461" y="901"/>
                  </a:lnTo>
                  <a:lnTo>
                    <a:pt x="463" y="902"/>
                  </a:lnTo>
                  <a:lnTo>
                    <a:pt x="466" y="902"/>
                  </a:lnTo>
                  <a:lnTo>
                    <a:pt x="469" y="902"/>
                  </a:lnTo>
                  <a:lnTo>
                    <a:pt x="472" y="901"/>
                  </a:lnTo>
                  <a:lnTo>
                    <a:pt x="472" y="901"/>
                  </a:lnTo>
                  <a:lnTo>
                    <a:pt x="472" y="900"/>
                  </a:lnTo>
                  <a:lnTo>
                    <a:pt x="893" y="690"/>
                  </a:lnTo>
                  <a:lnTo>
                    <a:pt x="897" y="688"/>
                  </a:lnTo>
                  <a:lnTo>
                    <a:pt x="900" y="685"/>
                  </a:lnTo>
                  <a:lnTo>
                    <a:pt x="901" y="681"/>
                  </a:lnTo>
                  <a:lnTo>
                    <a:pt x="902" y="676"/>
                  </a:lnTo>
                  <a:lnTo>
                    <a:pt x="902" y="195"/>
                  </a:lnTo>
                  <a:lnTo>
                    <a:pt x="902" y="195"/>
                  </a:lnTo>
                  <a:lnTo>
                    <a:pt x="902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3A3B2313-AE35-4AE9-B636-F879D3B8D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4113" y="2041525"/>
              <a:ext cx="77788" cy="100013"/>
            </a:xfrm>
            <a:custGeom>
              <a:avLst/>
              <a:gdLst>
                <a:gd name="T0" fmla="*/ 211 w 241"/>
                <a:gd name="T1" fmla="*/ 278 h 315"/>
                <a:gd name="T2" fmla="*/ 30 w 241"/>
                <a:gd name="T3" fmla="*/ 201 h 315"/>
                <a:gd name="T4" fmla="*/ 30 w 241"/>
                <a:gd name="T5" fmla="*/ 38 h 315"/>
                <a:gd name="T6" fmla="*/ 211 w 241"/>
                <a:gd name="T7" fmla="*/ 115 h 315"/>
                <a:gd name="T8" fmla="*/ 211 w 241"/>
                <a:gd name="T9" fmla="*/ 278 h 315"/>
                <a:gd name="T10" fmla="*/ 231 w 241"/>
                <a:gd name="T11" fmla="*/ 92 h 315"/>
                <a:gd name="T12" fmla="*/ 21 w 241"/>
                <a:gd name="T13" fmla="*/ 2 h 315"/>
                <a:gd name="T14" fmla="*/ 17 w 241"/>
                <a:gd name="T15" fmla="*/ 0 h 315"/>
                <a:gd name="T16" fmla="*/ 14 w 241"/>
                <a:gd name="T17" fmla="*/ 0 h 315"/>
                <a:gd name="T18" fmla="*/ 11 w 241"/>
                <a:gd name="T19" fmla="*/ 0 h 315"/>
                <a:gd name="T20" fmla="*/ 6 w 241"/>
                <a:gd name="T21" fmla="*/ 3 h 315"/>
                <a:gd name="T22" fmla="*/ 4 w 241"/>
                <a:gd name="T23" fmla="*/ 5 h 315"/>
                <a:gd name="T24" fmla="*/ 2 w 241"/>
                <a:gd name="T25" fmla="*/ 8 h 315"/>
                <a:gd name="T26" fmla="*/ 1 w 241"/>
                <a:gd name="T27" fmla="*/ 11 h 315"/>
                <a:gd name="T28" fmla="*/ 0 w 241"/>
                <a:gd name="T29" fmla="*/ 15 h 315"/>
                <a:gd name="T30" fmla="*/ 0 w 241"/>
                <a:gd name="T31" fmla="*/ 210 h 315"/>
                <a:gd name="T32" fmla="*/ 1 w 241"/>
                <a:gd name="T33" fmla="*/ 215 h 315"/>
                <a:gd name="T34" fmla="*/ 2 w 241"/>
                <a:gd name="T35" fmla="*/ 219 h 315"/>
                <a:gd name="T36" fmla="*/ 5 w 241"/>
                <a:gd name="T37" fmla="*/ 222 h 315"/>
                <a:gd name="T38" fmla="*/ 10 w 241"/>
                <a:gd name="T39" fmla="*/ 224 h 315"/>
                <a:gd name="T40" fmla="*/ 220 w 241"/>
                <a:gd name="T41" fmla="*/ 314 h 315"/>
                <a:gd name="T42" fmla="*/ 223 w 241"/>
                <a:gd name="T43" fmla="*/ 315 h 315"/>
                <a:gd name="T44" fmla="*/ 226 w 241"/>
                <a:gd name="T45" fmla="*/ 315 h 315"/>
                <a:gd name="T46" fmla="*/ 230 w 241"/>
                <a:gd name="T47" fmla="*/ 315 h 315"/>
                <a:gd name="T48" fmla="*/ 234 w 241"/>
                <a:gd name="T49" fmla="*/ 313 h 315"/>
                <a:gd name="T50" fmla="*/ 237 w 241"/>
                <a:gd name="T51" fmla="*/ 311 h 315"/>
                <a:gd name="T52" fmla="*/ 239 w 241"/>
                <a:gd name="T53" fmla="*/ 308 h 315"/>
                <a:gd name="T54" fmla="*/ 240 w 241"/>
                <a:gd name="T55" fmla="*/ 305 h 315"/>
                <a:gd name="T56" fmla="*/ 241 w 241"/>
                <a:gd name="T57" fmla="*/ 300 h 315"/>
                <a:gd name="T58" fmla="*/ 241 w 241"/>
                <a:gd name="T59" fmla="*/ 105 h 315"/>
                <a:gd name="T60" fmla="*/ 240 w 241"/>
                <a:gd name="T61" fmla="*/ 101 h 315"/>
                <a:gd name="T62" fmla="*/ 238 w 241"/>
                <a:gd name="T63" fmla="*/ 97 h 315"/>
                <a:gd name="T64" fmla="*/ 236 w 241"/>
                <a:gd name="T65" fmla="*/ 94 h 315"/>
                <a:gd name="T66" fmla="*/ 231 w 241"/>
                <a:gd name="T67" fmla="*/ 92 h 315"/>
                <a:gd name="T68" fmla="*/ 231 w 241"/>
                <a:gd name="T69" fmla="*/ 9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1" h="315">
                  <a:moveTo>
                    <a:pt x="211" y="278"/>
                  </a:moveTo>
                  <a:lnTo>
                    <a:pt x="30" y="201"/>
                  </a:lnTo>
                  <a:lnTo>
                    <a:pt x="30" y="38"/>
                  </a:lnTo>
                  <a:lnTo>
                    <a:pt x="211" y="115"/>
                  </a:lnTo>
                  <a:lnTo>
                    <a:pt x="211" y="278"/>
                  </a:lnTo>
                  <a:close/>
                  <a:moveTo>
                    <a:pt x="231" y="92"/>
                  </a:moveTo>
                  <a:lnTo>
                    <a:pt x="21" y="2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210"/>
                  </a:lnTo>
                  <a:lnTo>
                    <a:pt x="1" y="215"/>
                  </a:lnTo>
                  <a:lnTo>
                    <a:pt x="2" y="219"/>
                  </a:lnTo>
                  <a:lnTo>
                    <a:pt x="5" y="222"/>
                  </a:lnTo>
                  <a:lnTo>
                    <a:pt x="10" y="224"/>
                  </a:lnTo>
                  <a:lnTo>
                    <a:pt x="220" y="314"/>
                  </a:lnTo>
                  <a:lnTo>
                    <a:pt x="223" y="315"/>
                  </a:lnTo>
                  <a:lnTo>
                    <a:pt x="226" y="315"/>
                  </a:lnTo>
                  <a:lnTo>
                    <a:pt x="230" y="315"/>
                  </a:lnTo>
                  <a:lnTo>
                    <a:pt x="234" y="313"/>
                  </a:lnTo>
                  <a:lnTo>
                    <a:pt x="237" y="311"/>
                  </a:lnTo>
                  <a:lnTo>
                    <a:pt x="239" y="308"/>
                  </a:lnTo>
                  <a:lnTo>
                    <a:pt x="240" y="305"/>
                  </a:lnTo>
                  <a:lnTo>
                    <a:pt x="241" y="300"/>
                  </a:lnTo>
                  <a:lnTo>
                    <a:pt x="241" y="105"/>
                  </a:lnTo>
                  <a:lnTo>
                    <a:pt x="240" y="101"/>
                  </a:lnTo>
                  <a:lnTo>
                    <a:pt x="238" y="97"/>
                  </a:lnTo>
                  <a:lnTo>
                    <a:pt x="236" y="94"/>
                  </a:lnTo>
                  <a:lnTo>
                    <a:pt x="231" y="92"/>
                  </a:lnTo>
                  <a:lnTo>
                    <a:pt x="231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2B0543-B636-E561-E7EE-443D52F1FC21}"/>
              </a:ext>
            </a:extLst>
          </p:cNvPr>
          <p:cNvSpPr/>
          <p:nvPr/>
        </p:nvSpPr>
        <p:spPr>
          <a:xfrm>
            <a:off x="5190899" y="2231209"/>
            <a:ext cx="6872764" cy="4125141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937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457200" bIns="0" rtlCol="0" anchor="ctr"/>
          <a:lstStyle/>
          <a:p>
            <a:pPr>
              <a:buClr>
                <a:schemeClr val="accent1"/>
              </a:buClr>
            </a:pP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6B54F-DEE5-9049-BE2B-7D2D559D8C3C}"/>
              </a:ext>
            </a:extLst>
          </p:cNvPr>
          <p:cNvSpPr txBox="1"/>
          <p:nvPr/>
        </p:nvSpPr>
        <p:spPr>
          <a:xfrm>
            <a:off x="5725625" y="2810646"/>
            <a:ext cx="2980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sales (Gross):</a:t>
            </a:r>
          </a:p>
          <a:p>
            <a:r>
              <a:rPr lang="en-US" dirty="0"/>
              <a:t>Average sales per order:</a:t>
            </a:r>
          </a:p>
          <a:p>
            <a:r>
              <a:rPr lang="en-US" dirty="0"/>
              <a:t>Total Discounts:</a:t>
            </a:r>
          </a:p>
          <a:p>
            <a:r>
              <a:rPr lang="en-US" dirty="0"/>
              <a:t>Total No. of Orders: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76D42-8812-CE7A-8EA0-A7DCFD7FCC67}"/>
              </a:ext>
            </a:extLst>
          </p:cNvPr>
          <p:cNvSpPr txBox="1"/>
          <p:nvPr/>
        </p:nvSpPr>
        <p:spPr>
          <a:xfrm>
            <a:off x="8766455" y="2672146"/>
            <a:ext cx="2980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Segoe UI (Body)"/>
              </a:rPr>
              <a:t>[=sum(@Sales </a:t>
            </a:r>
            <a:r>
              <a:rPr lang="es-ES" dirty="0" err="1">
                <a:latin typeface="Segoe UI (Body)"/>
              </a:rPr>
              <a:t>column</a:t>
            </a:r>
            <a:r>
              <a:rPr lang="es-ES" dirty="0">
                <a:latin typeface="Segoe UI (Body)"/>
              </a:rPr>
              <a:t>)] [=</a:t>
            </a:r>
            <a:r>
              <a:rPr lang="es-ES" dirty="0" err="1">
                <a:latin typeface="Segoe UI (Body)"/>
              </a:rPr>
              <a:t>average</a:t>
            </a:r>
            <a:r>
              <a:rPr lang="es-ES" dirty="0">
                <a:latin typeface="Segoe UI (Body)"/>
              </a:rPr>
              <a:t>(@Sales </a:t>
            </a:r>
            <a:r>
              <a:rPr lang="es-ES" dirty="0" err="1">
                <a:latin typeface="Segoe UI (Body)"/>
              </a:rPr>
              <a:t>column</a:t>
            </a:r>
            <a:r>
              <a:rPr lang="es-ES" dirty="0">
                <a:latin typeface="Segoe UI (Body)"/>
              </a:rPr>
              <a:t>)] [=</a:t>
            </a:r>
            <a:r>
              <a:rPr lang="es-ES" dirty="0" err="1">
                <a:latin typeface="Segoe UI (Body)"/>
              </a:rPr>
              <a:t>sum@discounts</a:t>
            </a:r>
            <a:r>
              <a:rPr lang="es-ES" dirty="0">
                <a:latin typeface="Segoe UI (Body)"/>
              </a:rPr>
              <a:t> </a:t>
            </a:r>
            <a:r>
              <a:rPr lang="es-ES" dirty="0" err="1">
                <a:latin typeface="Segoe UI (Body)"/>
              </a:rPr>
              <a:t>column</a:t>
            </a:r>
            <a:r>
              <a:rPr lang="es-ES" dirty="0">
                <a:latin typeface="Segoe UI (Body)"/>
              </a:rPr>
              <a:t>]</a:t>
            </a:r>
          </a:p>
          <a:p>
            <a:r>
              <a:rPr lang="es-ES" dirty="0">
                <a:latin typeface="Segoe UI (Body)"/>
              </a:rPr>
              <a:t>[</a:t>
            </a:r>
            <a:r>
              <a:rPr lang="en-US" dirty="0">
                <a:latin typeface="Segoe UI (Body)"/>
              </a:rPr>
              <a:t>=</a:t>
            </a:r>
            <a:r>
              <a:rPr lang="en-US" dirty="0" err="1">
                <a:latin typeface="Segoe UI (Body)"/>
              </a:rPr>
              <a:t>COUNTA@customer_ID</a:t>
            </a:r>
            <a:r>
              <a:rPr lang="es-ES" dirty="0">
                <a:latin typeface="Segoe UI (Body)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B441B-9C28-5D2C-A416-1D9C1A92FF24}"/>
              </a:ext>
            </a:extLst>
          </p:cNvPr>
          <p:cNvSpPr txBox="1"/>
          <p:nvPr/>
        </p:nvSpPr>
        <p:spPr>
          <a:xfrm>
            <a:off x="5706787" y="4504013"/>
            <a:ext cx="2980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 Counts by (Cat. &amp; Segment)</a:t>
            </a:r>
          </a:p>
          <a:p>
            <a:r>
              <a:rPr lang="en-US" dirty="0"/>
              <a:t>Total Discount by (Category)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6B813-750D-4445-EB7A-FD62F8A4F9EB}"/>
              </a:ext>
            </a:extLst>
          </p:cNvPr>
          <p:cNvSpPr txBox="1"/>
          <p:nvPr/>
        </p:nvSpPr>
        <p:spPr>
          <a:xfrm>
            <a:off x="8766454" y="4565568"/>
            <a:ext cx="29806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[=COUNTIF(@Segment,"Criteria")]</a:t>
            </a:r>
          </a:p>
          <a:p>
            <a:r>
              <a:rPr lang="es-ES" sz="1600" dirty="0"/>
              <a:t>[=SUMIF(@Category,“Criteria", @Discount)]</a:t>
            </a:r>
          </a:p>
        </p:txBody>
      </p:sp>
    </p:spTree>
    <p:extLst>
      <p:ext uri="{BB962C8B-B14F-4D97-AF65-F5344CB8AC3E}">
        <p14:creationId xmlns:p14="http://schemas.microsoft.com/office/powerpoint/2010/main" val="101403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91A83-69C6-3B0E-8189-DF1A2E11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F48FDC8-AEDC-F1BB-9F4C-B2045C6800E7}"/>
              </a:ext>
            </a:extLst>
          </p:cNvPr>
          <p:cNvSpPr/>
          <p:nvPr/>
        </p:nvSpPr>
        <p:spPr>
          <a:xfrm rot="10800000">
            <a:off x="4911725" y="1"/>
            <a:ext cx="7280275" cy="1238863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9532537A-53B7-89E2-4B3A-04C3311E9BED}"/>
              </a:ext>
            </a:extLst>
          </p:cNvPr>
          <p:cNvSpPr/>
          <p:nvPr/>
        </p:nvSpPr>
        <p:spPr>
          <a:xfrm>
            <a:off x="-3175" y="5619137"/>
            <a:ext cx="7280275" cy="1238863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F097FB-3CD9-B52D-46DB-E4C54AB2CE39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Key Metrics Calculation and Data Analysis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B8484ED-D8D5-16C2-A105-239485E4BC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5360303"/>
              </p:ext>
            </p:extLst>
          </p:nvPr>
        </p:nvGraphicFramePr>
        <p:xfrm>
          <a:off x="-3175" y="2539666"/>
          <a:ext cx="3309482" cy="25081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4C7D50D7-BD28-4342-6224-ED927D7BDD7B}"/>
              </a:ext>
            </a:extLst>
          </p:cNvPr>
          <p:cNvSpPr/>
          <p:nvPr/>
        </p:nvSpPr>
        <p:spPr>
          <a:xfrm>
            <a:off x="1076050" y="3225014"/>
            <a:ext cx="1151032" cy="5778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C675EFE-D560-2E7F-2374-C6CB234A1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329" y="1250094"/>
            <a:ext cx="811506" cy="2379724"/>
          </a:xfrm>
          <a:prstGeom prst="rect">
            <a:avLst/>
          </a:prstGeom>
        </p:spPr>
      </p:pic>
      <p:grpSp>
        <p:nvGrpSpPr>
          <p:cNvPr id="89" name="Group 88">
            <a:extLst>
              <a:ext uri="{FF2B5EF4-FFF2-40B4-BE49-F238E27FC236}">
                <a16:creationId xmlns:a16="http://schemas.microsoft.com/office/drawing/2014/main" id="{77E0FE66-82FF-8C45-A3B6-5B6EE7477A04}"/>
              </a:ext>
            </a:extLst>
          </p:cNvPr>
          <p:cNvGrpSpPr/>
          <p:nvPr/>
        </p:nvGrpSpPr>
        <p:grpSpPr>
          <a:xfrm>
            <a:off x="11053837" y="3513931"/>
            <a:ext cx="287338" cy="287338"/>
            <a:chOff x="8736013" y="1925638"/>
            <a:chExt cx="287338" cy="287338"/>
          </a:xfrm>
          <a:solidFill>
            <a:schemeClr val="bg1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90" name="Freeform 97">
              <a:extLst>
                <a:ext uri="{FF2B5EF4-FFF2-40B4-BE49-F238E27FC236}">
                  <a16:creationId xmlns:a16="http://schemas.microsoft.com/office/drawing/2014/main" id="{E5BA1274-FEA4-1798-B5DD-63FAA018DA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36013" y="1925638"/>
              <a:ext cx="287338" cy="287338"/>
            </a:xfrm>
            <a:custGeom>
              <a:avLst/>
              <a:gdLst>
                <a:gd name="T0" fmla="*/ 481 w 902"/>
                <a:gd name="T1" fmla="*/ 863 h 902"/>
                <a:gd name="T2" fmla="*/ 872 w 902"/>
                <a:gd name="T3" fmla="*/ 219 h 902"/>
                <a:gd name="T4" fmla="*/ 30 w 902"/>
                <a:gd name="T5" fmla="*/ 219 h 902"/>
                <a:gd name="T6" fmla="*/ 451 w 902"/>
                <a:gd name="T7" fmla="*/ 864 h 902"/>
                <a:gd name="T8" fmla="*/ 30 w 902"/>
                <a:gd name="T9" fmla="*/ 219 h 902"/>
                <a:gd name="T10" fmla="*/ 54 w 902"/>
                <a:gd name="T11" fmla="*/ 197 h 902"/>
                <a:gd name="T12" fmla="*/ 648 w 902"/>
                <a:gd name="T13" fmla="*/ 290 h 902"/>
                <a:gd name="T14" fmla="*/ 466 w 902"/>
                <a:gd name="T15" fmla="*/ 32 h 902"/>
                <a:gd name="T16" fmla="*/ 683 w 902"/>
                <a:gd name="T17" fmla="*/ 274 h 902"/>
                <a:gd name="T18" fmla="*/ 466 w 902"/>
                <a:gd name="T19" fmla="*/ 32 h 902"/>
                <a:gd name="T20" fmla="*/ 902 w 902"/>
                <a:gd name="T21" fmla="*/ 195 h 902"/>
                <a:gd name="T22" fmla="*/ 901 w 902"/>
                <a:gd name="T23" fmla="*/ 191 h 902"/>
                <a:gd name="T24" fmla="*/ 901 w 902"/>
                <a:gd name="T25" fmla="*/ 190 h 902"/>
                <a:gd name="T26" fmla="*/ 898 w 902"/>
                <a:gd name="T27" fmla="*/ 186 h 902"/>
                <a:gd name="T28" fmla="*/ 898 w 902"/>
                <a:gd name="T29" fmla="*/ 185 h 902"/>
                <a:gd name="T30" fmla="*/ 896 w 902"/>
                <a:gd name="T31" fmla="*/ 184 h 902"/>
                <a:gd name="T32" fmla="*/ 893 w 902"/>
                <a:gd name="T33" fmla="*/ 183 h 902"/>
                <a:gd name="T34" fmla="*/ 892 w 902"/>
                <a:gd name="T35" fmla="*/ 182 h 902"/>
                <a:gd name="T36" fmla="*/ 469 w 902"/>
                <a:gd name="T37" fmla="*/ 0 h 902"/>
                <a:gd name="T38" fmla="*/ 463 w 902"/>
                <a:gd name="T39" fmla="*/ 0 h 902"/>
                <a:gd name="T40" fmla="*/ 10 w 902"/>
                <a:gd name="T41" fmla="*/ 182 h 902"/>
                <a:gd name="T42" fmla="*/ 9 w 902"/>
                <a:gd name="T43" fmla="*/ 183 h 902"/>
                <a:gd name="T44" fmla="*/ 6 w 902"/>
                <a:gd name="T45" fmla="*/ 184 h 902"/>
                <a:gd name="T46" fmla="*/ 4 w 902"/>
                <a:gd name="T47" fmla="*/ 185 h 902"/>
                <a:gd name="T48" fmla="*/ 4 w 902"/>
                <a:gd name="T49" fmla="*/ 186 h 902"/>
                <a:gd name="T50" fmla="*/ 1 w 902"/>
                <a:gd name="T51" fmla="*/ 189 h 902"/>
                <a:gd name="T52" fmla="*/ 1 w 902"/>
                <a:gd name="T53" fmla="*/ 190 h 902"/>
                <a:gd name="T54" fmla="*/ 0 w 902"/>
                <a:gd name="T55" fmla="*/ 195 h 902"/>
                <a:gd name="T56" fmla="*/ 0 w 902"/>
                <a:gd name="T57" fmla="*/ 195 h 902"/>
                <a:gd name="T58" fmla="*/ 0 w 902"/>
                <a:gd name="T59" fmla="*/ 195 h 902"/>
                <a:gd name="T60" fmla="*/ 0 w 902"/>
                <a:gd name="T61" fmla="*/ 681 h 902"/>
                <a:gd name="T62" fmla="*/ 5 w 902"/>
                <a:gd name="T63" fmla="*/ 688 h 902"/>
                <a:gd name="T64" fmla="*/ 460 w 902"/>
                <a:gd name="T65" fmla="*/ 901 h 902"/>
                <a:gd name="T66" fmla="*/ 461 w 902"/>
                <a:gd name="T67" fmla="*/ 901 h 902"/>
                <a:gd name="T68" fmla="*/ 466 w 902"/>
                <a:gd name="T69" fmla="*/ 902 h 902"/>
                <a:gd name="T70" fmla="*/ 472 w 902"/>
                <a:gd name="T71" fmla="*/ 901 h 902"/>
                <a:gd name="T72" fmla="*/ 472 w 902"/>
                <a:gd name="T73" fmla="*/ 900 h 902"/>
                <a:gd name="T74" fmla="*/ 897 w 902"/>
                <a:gd name="T75" fmla="*/ 688 h 902"/>
                <a:gd name="T76" fmla="*/ 901 w 902"/>
                <a:gd name="T77" fmla="*/ 681 h 902"/>
                <a:gd name="T78" fmla="*/ 902 w 902"/>
                <a:gd name="T79" fmla="*/ 195 h 902"/>
                <a:gd name="T80" fmla="*/ 902 w 902"/>
                <a:gd name="T81" fmla="*/ 195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02" h="902">
                  <a:moveTo>
                    <a:pt x="872" y="668"/>
                  </a:moveTo>
                  <a:lnTo>
                    <a:pt x="481" y="863"/>
                  </a:lnTo>
                  <a:lnTo>
                    <a:pt x="481" y="401"/>
                  </a:lnTo>
                  <a:lnTo>
                    <a:pt x="872" y="219"/>
                  </a:lnTo>
                  <a:lnTo>
                    <a:pt x="872" y="668"/>
                  </a:lnTo>
                  <a:close/>
                  <a:moveTo>
                    <a:pt x="30" y="219"/>
                  </a:moveTo>
                  <a:lnTo>
                    <a:pt x="451" y="401"/>
                  </a:lnTo>
                  <a:lnTo>
                    <a:pt x="451" y="864"/>
                  </a:lnTo>
                  <a:lnTo>
                    <a:pt x="30" y="667"/>
                  </a:lnTo>
                  <a:lnTo>
                    <a:pt x="30" y="219"/>
                  </a:lnTo>
                  <a:close/>
                  <a:moveTo>
                    <a:pt x="466" y="374"/>
                  </a:moveTo>
                  <a:lnTo>
                    <a:pt x="54" y="197"/>
                  </a:lnTo>
                  <a:lnTo>
                    <a:pt x="266" y="112"/>
                  </a:lnTo>
                  <a:lnTo>
                    <a:pt x="648" y="290"/>
                  </a:lnTo>
                  <a:lnTo>
                    <a:pt x="466" y="374"/>
                  </a:lnTo>
                  <a:close/>
                  <a:moveTo>
                    <a:pt x="466" y="32"/>
                  </a:moveTo>
                  <a:lnTo>
                    <a:pt x="851" y="197"/>
                  </a:lnTo>
                  <a:lnTo>
                    <a:pt x="683" y="274"/>
                  </a:lnTo>
                  <a:lnTo>
                    <a:pt x="304" y="97"/>
                  </a:lnTo>
                  <a:lnTo>
                    <a:pt x="466" y="32"/>
                  </a:lnTo>
                  <a:close/>
                  <a:moveTo>
                    <a:pt x="902" y="195"/>
                  </a:moveTo>
                  <a:lnTo>
                    <a:pt x="902" y="195"/>
                  </a:lnTo>
                  <a:lnTo>
                    <a:pt x="902" y="193"/>
                  </a:lnTo>
                  <a:lnTo>
                    <a:pt x="901" y="191"/>
                  </a:lnTo>
                  <a:lnTo>
                    <a:pt x="901" y="190"/>
                  </a:lnTo>
                  <a:lnTo>
                    <a:pt x="901" y="190"/>
                  </a:lnTo>
                  <a:lnTo>
                    <a:pt x="900" y="188"/>
                  </a:lnTo>
                  <a:lnTo>
                    <a:pt x="898" y="186"/>
                  </a:lnTo>
                  <a:lnTo>
                    <a:pt x="898" y="186"/>
                  </a:lnTo>
                  <a:lnTo>
                    <a:pt x="898" y="185"/>
                  </a:lnTo>
                  <a:lnTo>
                    <a:pt x="897" y="184"/>
                  </a:lnTo>
                  <a:lnTo>
                    <a:pt x="896" y="184"/>
                  </a:lnTo>
                  <a:lnTo>
                    <a:pt x="895" y="183"/>
                  </a:lnTo>
                  <a:lnTo>
                    <a:pt x="893" y="183"/>
                  </a:lnTo>
                  <a:lnTo>
                    <a:pt x="893" y="183"/>
                  </a:lnTo>
                  <a:lnTo>
                    <a:pt x="892" y="182"/>
                  </a:lnTo>
                  <a:lnTo>
                    <a:pt x="471" y="2"/>
                  </a:lnTo>
                  <a:lnTo>
                    <a:pt x="469" y="0"/>
                  </a:lnTo>
                  <a:lnTo>
                    <a:pt x="466" y="0"/>
                  </a:lnTo>
                  <a:lnTo>
                    <a:pt x="463" y="0"/>
                  </a:lnTo>
                  <a:lnTo>
                    <a:pt x="461" y="2"/>
                  </a:lnTo>
                  <a:lnTo>
                    <a:pt x="10" y="182"/>
                  </a:lnTo>
                  <a:lnTo>
                    <a:pt x="9" y="182"/>
                  </a:lnTo>
                  <a:lnTo>
                    <a:pt x="9" y="183"/>
                  </a:lnTo>
                  <a:lnTo>
                    <a:pt x="8" y="183"/>
                  </a:lnTo>
                  <a:lnTo>
                    <a:pt x="6" y="184"/>
                  </a:lnTo>
                  <a:lnTo>
                    <a:pt x="5" y="184"/>
                  </a:lnTo>
                  <a:lnTo>
                    <a:pt x="4" y="185"/>
                  </a:lnTo>
                  <a:lnTo>
                    <a:pt x="4" y="185"/>
                  </a:lnTo>
                  <a:lnTo>
                    <a:pt x="4" y="186"/>
                  </a:lnTo>
                  <a:lnTo>
                    <a:pt x="2" y="187"/>
                  </a:lnTo>
                  <a:lnTo>
                    <a:pt x="1" y="189"/>
                  </a:lnTo>
                  <a:lnTo>
                    <a:pt x="1" y="190"/>
                  </a:lnTo>
                  <a:lnTo>
                    <a:pt x="1" y="190"/>
                  </a:lnTo>
                  <a:lnTo>
                    <a:pt x="0" y="19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0" y="676"/>
                  </a:lnTo>
                  <a:lnTo>
                    <a:pt x="0" y="681"/>
                  </a:lnTo>
                  <a:lnTo>
                    <a:pt x="2" y="685"/>
                  </a:lnTo>
                  <a:lnTo>
                    <a:pt x="5" y="688"/>
                  </a:lnTo>
                  <a:lnTo>
                    <a:pt x="9" y="690"/>
                  </a:lnTo>
                  <a:lnTo>
                    <a:pt x="460" y="901"/>
                  </a:lnTo>
                  <a:lnTo>
                    <a:pt x="460" y="901"/>
                  </a:lnTo>
                  <a:lnTo>
                    <a:pt x="461" y="901"/>
                  </a:lnTo>
                  <a:lnTo>
                    <a:pt x="463" y="902"/>
                  </a:lnTo>
                  <a:lnTo>
                    <a:pt x="466" y="902"/>
                  </a:lnTo>
                  <a:lnTo>
                    <a:pt x="469" y="902"/>
                  </a:lnTo>
                  <a:lnTo>
                    <a:pt x="472" y="901"/>
                  </a:lnTo>
                  <a:lnTo>
                    <a:pt x="472" y="901"/>
                  </a:lnTo>
                  <a:lnTo>
                    <a:pt x="472" y="900"/>
                  </a:lnTo>
                  <a:lnTo>
                    <a:pt x="893" y="690"/>
                  </a:lnTo>
                  <a:lnTo>
                    <a:pt x="897" y="688"/>
                  </a:lnTo>
                  <a:lnTo>
                    <a:pt x="900" y="685"/>
                  </a:lnTo>
                  <a:lnTo>
                    <a:pt x="901" y="681"/>
                  </a:lnTo>
                  <a:lnTo>
                    <a:pt x="902" y="676"/>
                  </a:lnTo>
                  <a:lnTo>
                    <a:pt x="902" y="195"/>
                  </a:lnTo>
                  <a:lnTo>
                    <a:pt x="902" y="195"/>
                  </a:lnTo>
                  <a:lnTo>
                    <a:pt x="902" y="19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98">
              <a:extLst>
                <a:ext uri="{FF2B5EF4-FFF2-40B4-BE49-F238E27FC236}">
                  <a16:creationId xmlns:a16="http://schemas.microsoft.com/office/drawing/2014/main" id="{EA170654-27DF-D32D-495E-08AE17C5DE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4113" y="2041525"/>
              <a:ext cx="77788" cy="100013"/>
            </a:xfrm>
            <a:custGeom>
              <a:avLst/>
              <a:gdLst>
                <a:gd name="T0" fmla="*/ 211 w 241"/>
                <a:gd name="T1" fmla="*/ 278 h 315"/>
                <a:gd name="T2" fmla="*/ 30 w 241"/>
                <a:gd name="T3" fmla="*/ 201 h 315"/>
                <a:gd name="T4" fmla="*/ 30 w 241"/>
                <a:gd name="T5" fmla="*/ 38 h 315"/>
                <a:gd name="T6" fmla="*/ 211 w 241"/>
                <a:gd name="T7" fmla="*/ 115 h 315"/>
                <a:gd name="T8" fmla="*/ 211 w 241"/>
                <a:gd name="T9" fmla="*/ 278 h 315"/>
                <a:gd name="T10" fmla="*/ 231 w 241"/>
                <a:gd name="T11" fmla="*/ 92 h 315"/>
                <a:gd name="T12" fmla="*/ 21 w 241"/>
                <a:gd name="T13" fmla="*/ 2 h 315"/>
                <a:gd name="T14" fmla="*/ 17 w 241"/>
                <a:gd name="T15" fmla="*/ 0 h 315"/>
                <a:gd name="T16" fmla="*/ 14 w 241"/>
                <a:gd name="T17" fmla="*/ 0 h 315"/>
                <a:gd name="T18" fmla="*/ 11 w 241"/>
                <a:gd name="T19" fmla="*/ 0 h 315"/>
                <a:gd name="T20" fmla="*/ 6 w 241"/>
                <a:gd name="T21" fmla="*/ 3 h 315"/>
                <a:gd name="T22" fmla="*/ 4 w 241"/>
                <a:gd name="T23" fmla="*/ 5 h 315"/>
                <a:gd name="T24" fmla="*/ 2 w 241"/>
                <a:gd name="T25" fmla="*/ 8 h 315"/>
                <a:gd name="T26" fmla="*/ 1 w 241"/>
                <a:gd name="T27" fmla="*/ 11 h 315"/>
                <a:gd name="T28" fmla="*/ 0 w 241"/>
                <a:gd name="T29" fmla="*/ 15 h 315"/>
                <a:gd name="T30" fmla="*/ 0 w 241"/>
                <a:gd name="T31" fmla="*/ 210 h 315"/>
                <a:gd name="T32" fmla="*/ 1 w 241"/>
                <a:gd name="T33" fmla="*/ 215 h 315"/>
                <a:gd name="T34" fmla="*/ 2 w 241"/>
                <a:gd name="T35" fmla="*/ 219 h 315"/>
                <a:gd name="T36" fmla="*/ 5 w 241"/>
                <a:gd name="T37" fmla="*/ 222 h 315"/>
                <a:gd name="T38" fmla="*/ 10 w 241"/>
                <a:gd name="T39" fmla="*/ 224 h 315"/>
                <a:gd name="T40" fmla="*/ 220 w 241"/>
                <a:gd name="T41" fmla="*/ 314 h 315"/>
                <a:gd name="T42" fmla="*/ 223 w 241"/>
                <a:gd name="T43" fmla="*/ 315 h 315"/>
                <a:gd name="T44" fmla="*/ 226 w 241"/>
                <a:gd name="T45" fmla="*/ 315 h 315"/>
                <a:gd name="T46" fmla="*/ 230 w 241"/>
                <a:gd name="T47" fmla="*/ 315 h 315"/>
                <a:gd name="T48" fmla="*/ 234 w 241"/>
                <a:gd name="T49" fmla="*/ 313 h 315"/>
                <a:gd name="T50" fmla="*/ 237 w 241"/>
                <a:gd name="T51" fmla="*/ 311 h 315"/>
                <a:gd name="T52" fmla="*/ 239 w 241"/>
                <a:gd name="T53" fmla="*/ 308 h 315"/>
                <a:gd name="T54" fmla="*/ 240 w 241"/>
                <a:gd name="T55" fmla="*/ 305 h 315"/>
                <a:gd name="T56" fmla="*/ 241 w 241"/>
                <a:gd name="T57" fmla="*/ 300 h 315"/>
                <a:gd name="T58" fmla="*/ 241 w 241"/>
                <a:gd name="T59" fmla="*/ 105 h 315"/>
                <a:gd name="T60" fmla="*/ 240 w 241"/>
                <a:gd name="T61" fmla="*/ 101 h 315"/>
                <a:gd name="T62" fmla="*/ 238 w 241"/>
                <a:gd name="T63" fmla="*/ 97 h 315"/>
                <a:gd name="T64" fmla="*/ 236 w 241"/>
                <a:gd name="T65" fmla="*/ 94 h 315"/>
                <a:gd name="T66" fmla="*/ 231 w 241"/>
                <a:gd name="T67" fmla="*/ 92 h 315"/>
                <a:gd name="T68" fmla="*/ 231 w 241"/>
                <a:gd name="T69" fmla="*/ 9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41" h="315">
                  <a:moveTo>
                    <a:pt x="211" y="278"/>
                  </a:moveTo>
                  <a:lnTo>
                    <a:pt x="30" y="201"/>
                  </a:lnTo>
                  <a:lnTo>
                    <a:pt x="30" y="38"/>
                  </a:lnTo>
                  <a:lnTo>
                    <a:pt x="211" y="115"/>
                  </a:lnTo>
                  <a:lnTo>
                    <a:pt x="211" y="278"/>
                  </a:lnTo>
                  <a:close/>
                  <a:moveTo>
                    <a:pt x="231" y="92"/>
                  </a:moveTo>
                  <a:lnTo>
                    <a:pt x="21" y="2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210"/>
                  </a:lnTo>
                  <a:lnTo>
                    <a:pt x="1" y="215"/>
                  </a:lnTo>
                  <a:lnTo>
                    <a:pt x="2" y="219"/>
                  </a:lnTo>
                  <a:lnTo>
                    <a:pt x="5" y="222"/>
                  </a:lnTo>
                  <a:lnTo>
                    <a:pt x="10" y="224"/>
                  </a:lnTo>
                  <a:lnTo>
                    <a:pt x="220" y="314"/>
                  </a:lnTo>
                  <a:lnTo>
                    <a:pt x="223" y="315"/>
                  </a:lnTo>
                  <a:lnTo>
                    <a:pt x="226" y="315"/>
                  </a:lnTo>
                  <a:lnTo>
                    <a:pt x="230" y="315"/>
                  </a:lnTo>
                  <a:lnTo>
                    <a:pt x="234" y="313"/>
                  </a:lnTo>
                  <a:lnTo>
                    <a:pt x="237" y="311"/>
                  </a:lnTo>
                  <a:lnTo>
                    <a:pt x="239" y="308"/>
                  </a:lnTo>
                  <a:lnTo>
                    <a:pt x="240" y="305"/>
                  </a:lnTo>
                  <a:lnTo>
                    <a:pt x="241" y="300"/>
                  </a:lnTo>
                  <a:lnTo>
                    <a:pt x="241" y="105"/>
                  </a:lnTo>
                  <a:lnTo>
                    <a:pt x="240" y="101"/>
                  </a:lnTo>
                  <a:lnTo>
                    <a:pt x="238" y="97"/>
                  </a:lnTo>
                  <a:lnTo>
                    <a:pt x="236" y="94"/>
                  </a:lnTo>
                  <a:lnTo>
                    <a:pt x="231" y="92"/>
                  </a:lnTo>
                  <a:lnTo>
                    <a:pt x="231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2845BEC-1E65-1A90-0964-BE0B43587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587" y="1698171"/>
            <a:ext cx="8449488" cy="392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122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4790F99-C881-47C9-B3DC-C959D4418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FE5283-B009-4EE3-A9B2-2F7A4D62AD40}"/>
              </a:ext>
            </a:extLst>
          </p:cNvPr>
          <p:cNvSpPr/>
          <p:nvPr/>
        </p:nvSpPr>
        <p:spPr>
          <a:xfrm>
            <a:off x="506233" y="2218655"/>
            <a:ext cx="4343688" cy="16061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400" b="1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Pivot Tables and Pivot Charts</a:t>
            </a:r>
          </a:p>
        </p:txBody>
      </p:sp>
      <p:pic>
        <p:nvPicPr>
          <p:cNvPr id="3" name="Picture 2" descr="A screenshot of a data&#10;&#10;AI-generated content may be incorrect.">
            <a:extLst>
              <a:ext uri="{FF2B5EF4-FFF2-40B4-BE49-F238E27FC236}">
                <a16:creationId xmlns:a16="http://schemas.microsoft.com/office/drawing/2014/main" id="{51882914-7832-4A51-957C-6309D13EE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432" y="319088"/>
            <a:ext cx="4263628" cy="181204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163100-39A9-CC30-8024-A6920B502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966" y="2291997"/>
            <a:ext cx="4308561" cy="1949625"/>
          </a:xfrm>
          <a:prstGeom prst="rect">
            <a:avLst/>
          </a:prstGeom>
        </p:spPr>
      </p:pic>
      <p:pic>
        <p:nvPicPr>
          <p:cNvPr id="7" name="Picture 6" descr="A graph with a blue and red bar&#10;&#10;AI-generated content may be incorrect.">
            <a:extLst>
              <a:ext uri="{FF2B5EF4-FFF2-40B4-BE49-F238E27FC236}">
                <a16:creationId xmlns:a16="http://schemas.microsoft.com/office/drawing/2014/main" id="{177FAD4B-5953-CBD6-7375-93B5FC689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669" y="4581807"/>
            <a:ext cx="4937484" cy="16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F4964F9-79AB-4BE1-9862-76CE4510D553}"/>
              </a:ext>
            </a:extLst>
          </p:cNvPr>
          <p:cNvSpPr/>
          <p:nvPr/>
        </p:nvSpPr>
        <p:spPr>
          <a:xfrm>
            <a:off x="-3175" y="5823284"/>
            <a:ext cx="10988503" cy="1034716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67D406-5165-4360-8C1C-324029DCCE25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Dashboard Overview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2FC595-5BD7-FB17-9508-73329991A826}"/>
              </a:ext>
            </a:extLst>
          </p:cNvPr>
          <p:cNvSpPr txBox="1"/>
          <p:nvPr/>
        </p:nvSpPr>
        <p:spPr>
          <a:xfrm>
            <a:off x="878305" y="1422145"/>
            <a:ext cx="10519611" cy="3954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356235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Dashboard was created to present key sales insights in a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clear, interactive, and user-friendly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format. It enables quick decision-making and real-time data exploration for stakeholders.</a:t>
            </a:r>
          </a:p>
          <a:p>
            <a:pPr marL="12700" marR="356235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sz="1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356235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800" b="1" dirty="0">
                <a:latin typeface="Arial"/>
                <a:ea typeface="Arial"/>
                <a:cs typeface="Arial"/>
                <a:sym typeface="Arial"/>
              </a:rPr>
              <a:t>Key Components:</a:t>
            </a:r>
            <a:endParaRPr lang="en-US" sz="2800" dirty="0">
              <a:latin typeface="Arial"/>
              <a:ea typeface="Arial"/>
              <a:cs typeface="Arial"/>
              <a:sym typeface="Arial"/>
            </a:endParaRPr>
          </a:p>
          <a:p>
            <a:pPr marL="469900" marR="74295" lvl="0" indent="-313055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KPIs: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Displays vital metrics such as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Total Sales, Average Sales/order, Top Performing Category and Average Sales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5080" lvl="0" indent="-313055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Slicers: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Interactive ﬁlters for dimensions like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Segment and Category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, allowing users to drill down into speciﬁc segments</a:t>
            </a:r>
          </a:p>
        </p:txBody>
      </p:sp>
    </p:spTree>
    <p:extLst>
      <p:ext uri="{BB962C8B-B14F-4D97-AF65-F5344CB8AC3E}">
        <p14:creationId xmlns:p14="http://schemas.microsoft.com/office/powerpoint/2010/main" val="54521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252347A-73EF-4021-A502-2D02F6F1D190}"/>
              </a:ext>
            </a:extLst>
          </p:cNvPr>
          <p:cNvSpPr/>
          <p:nvPr/>
        </p:nvSpPr>
        <p:spPr>
          <a:xfrm rot="10800000">
            <a:off x="4911725" y="1"/>
            <a:ext cx="7280275" cy="1238863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F4964F9-79AB-4BE1-9862-76CE4510D553}"/>
              </a:ext>
            </a:extLst>
          </p:cNvPr>
          <p:cNvSpPr/>
          <p:nvPr/>
        </p:nvSpPr>
        <p:spPr>
          <a:xfrm>
            <a:off x="-3175" y="5619137"/>
            <a:ext cx="7280275" cy="1238863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67D406-5165-4360-8C1C-324029DCCE25}"/>
              </a:ext>
            </a:extLst>
          </p:cNvPr>
          <p:cNvSpPr txBox="1"/>
          <p:nvPr/>
        </p:nvSpPr>
        <p:spPr>
          <a:xfrm>
            <a:off x="384425" y="134837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DASHBOARD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12DF3A-6767-4AB7-9223-73F1E13B5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30" y="741520"/>
            <a:ext cx="10973386" cy="5931996"/>
          </a:xfrm>
          <a:prstGeom prst="rect">
            <a:avLst/>
          </a:prstGeom>
        </p:spPr>
      </p:pic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25526870-12BB-6DAE-5321-9FD03BC13F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47" y="923731"/>
            <a:ext cx="10431624" cy="45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8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BAD78-6877-D1B8-A201-651AD7C7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395CF4B9-71B2-9477-E332-E0598992EFFE}"/>
              </a:ext>
            </a:extLst>
          </p:cNvPr>
          <p:cNvSpPr/>
          <p:nvPr/>
        </p:nvSpPr>
        <p:spPr>
          <a:xfrm>
            <a:off x="-3175" y="4988118"/>
            <a:ext cx="10988503" cy="1869882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B57F21-4903-00A1-9981-CAAD94644188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What-If Analysis and Goal Seek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E7B4D-C9B7-1F80-19AF-B32D221CD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96" y="1138989"/>
            <a:ext cx="5048232" cy="510139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8E914D-0A8B-8071-8CA0-CEEB1AA7B674}"/>
              </a:ext>
            </a:extLst>
          </p:cNvPr>
          <p:cNvSpPr/>
          <p:nvPr/>
        </p:nvSpPr>
        <p:spPr>
          <a:xfrm>
            <a:off x="6256618" y="1155031"/>
            <a:ext cx="5486203" cy="8151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937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457200" bIns="0" rtlCol="0" anchor="ctr"/>
          <a:lstStyle/>
          <a:p>
            <a:pPr algn="ctr">
              <a:buClr>
                <a:schemeClr val="accent1"/>
              </a:buClr>
            </a:pPr>
            <a:r>
              <a:rPr lang="en-US" sz="2000" b="1" dirty="0">
                <a:solidFill>
                  <a:schemeClr val="tx1"/>
                </a:solidFill>
              </a:rPr>
              <a:t>FORMULA USED: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6C12E-7F28-37FD-E856-D8298C40ABBB}"/>
              </a:ext>
            </a:extLst>
          </p:cNvPr>
          <p:cNvSpPr/>
          <p:nvPr/>
        </p:nvSpPr>
        <p:spPr>
          <a:xfrm>
            <a:off x="6096000" y="2077918"/>
            <a:ext cx="5646821" cy="17235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srgbClr val="083D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 Value Calculation: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rgbClr val="083D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=Sales*(1-Discount)*Quantity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srgbClr val="083D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5% Decreased Discount:</a:t>
            </a:r>
          </a:p>
          <a:p>
            <a:pPr lvl="0">
              <a:defRPr/>
            </a:pPr>
            <a:r>
              <a:rPr lang="en-US" sz="2800" dirty="0">
                <a:solidFill>
                  <a:srgbClr val="083D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=</a:t>
            </a:r>
            <a:r>
              <a:rPr lang="en-US" sz="2800" dirty="0" err="1">
                <a:solidFill>
                  <a:srgbClr val="083D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Netvalue</a:t>
            </a:r>
            <a:r>
              <a:rPr lang="en-US" sz="2800" dirty="0">
                <a:solidFill>
                  <a:srgbClr val="083D6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*((1-Discount)-0.05)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83D65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F88B1-DCBA-01AC-8D1F-364F37756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617" y="4082531"/>
            <a:ext cx="5410881" cy="215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11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F4964F9-79AB-4BE1-9862-76CE4510D553}"/>
              </a:ext>
            </a:extLst>
          </p:cNvPr>
          <p:cNvSpPr/>
          <p:nvPr/>
        </p:nvSpPr>
        <p:spPr>
          <a:xfrm>
            <a:off x="-3175" y="4988118"/>
            <a:ext cx="10988503" cy="1869882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67D406-5165-4360-8C1C-324029DCCE25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Insights &amp; 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AB099C6-5E73-40CC-BD6B-75EC0D45D65D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07038" y="1236663"/>
            <a:ext cx="5986462" cy="477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CC1F8F2E-5FC9-49C1-B04D-25DA635273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461781"/>
              </p:ext>
            </p:extLst>
          </p:nvPr>
        </p:nvGraphicFramePr>
        <p:xfrm>
          <a:off x="494604" y="1478184"/>
          <a:ext cx="4416131" cy="3310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1" name="Group 80">
            <a:extLst>
              <a:ext uri="{FF2B5EF4-FFF2-40B4-BE49-F238E27FC236}">
                <a16:creationId xmlns:a16="http://schemas.microsoft.com/office/drawing/2014/main" id="{5FF503DA-ED35-4534-A6C7-8DC7B1D41F2C}"/>
              </a:ext>
            </a:extLst>
          </p:cNvPr>
          <p:cNvGrpSpPr/>
          <p:nvPr/>
        </p:nvGrpSpPr>
        <p:grpSpPr>
          <a:xfrm>
            <a:off x="-3175" y="3457087"/>
            <a:ext cx="1108782" cy="2632076"/>
            <a:chOff x="2780529" y="2112972"/>
            <a:chExt cx="1759468" cy="4176703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E47D54EA-85B7-4CD7-9F38-6874A1F69225}"/>
                </a:ext>
              </a:extLst>
            </p:cNvPr>
            <p:cNvSpPr/>
            <p:nvPr/>
          </p:nvSpPr>
          <p:spPr>
            <a:xfrm>
              <a:off x="2780529" y="5978420"/>
              <a:ext cx="1579799" cy="311255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C16DA68-E354-45E8-A8FB-F1AECF477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0198" y="2112972"/>
              <a:ext cx="1579799" cy="408145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09B248-13D5-CE96-E167-114E9D8F4895}"/>
              </a:ext>
            </a:extLst>
          </p:cNvPr>
          <p:cNvSpPr txBox="1"/>
          <p:nvPr/>
        </p:nvSpPr>
        <p:spPr>
          <a:xfrm>
            <a:off x="4796589" y="1422145"/>
            <a:ext cx="7128711" cy="4265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362585" lvl="0" indent="-60324">
              <a:lnSpc>
                <a:spcPct val="114999"/>
              </a:lnSpc>
              <a:buSzPts val="950"/>
              <a:buFont typeface="Verdana"/>
              <a:buChar char="•"/>
            </a:pPr>
            <a:r>
              <a:rPr lang="en-US" sz="2000" b="1" dirty="0">
                <a:latin typeface="Tahoma"/>
                <a:ea typeface="Tahoma"/>
                <a:cs typeface="Tahoma"/>
                <a:sym typeface="Tahoma"/>
              </a:rPr>
              <a:t>	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Increasing Sales Trend</a:t>
            </a:r>
            <a:r>
              <a:rPr lang="en-US" sz="2400" dirty="0">
                <a:solidFill>
                  <a:srgbClr val="8688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Sales increased from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2014 to 2017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with notable peaks in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November and December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due to holiday shopping.</a:t>
            </a:r>
          </a:p>
          <a:p>
            <a:pPr marL="12700" marR="356235" lvl="0" indent="-67026">
              <a:lnSpc>
                <a:spcPct val="114999"/>
              </a:lnSpc>
              <a:spcBef>
                <a:spcPts val="1500"/>
              </a:spcBef>
              <a:buSzPts val="1056"/>
              <a:buFont typeface="Verdana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	 Profit Stability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Proﬁts align with sales trends but are more stable, indicating varying proﬁt margins</a:t>
            </a:r>
            <a:r>
              <a:rPr lang="en-US" sz="2400" dirty="0">
                <a:solidFill>
                  <a:srgbClr val="8688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-67026">
              <a:lnSpc>
                <a:spcPct val="114999"/>
              </a:lnSpc>
              <a:spcBef>
                <a:spcPts val="1500"/>
              </a:spcBef>
              <a:buSzPts val="1056"/>
              <a:buFont typeface="Verdana"/>
              <a:buChar char="•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	 Key Figures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Highest sales in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November 2017 (118,447.82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lowest in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February 2014 (4,519</a:t>
            </a:r>
            <a:b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.892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signiﬁcant loss in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January 2015 (3,281.007)</a:t>
            </a:r>
            <a:r>
              <a:rPr lang="en-US" sz="2400" dirty="0">
                <a:solidFill>
                  <a:srgbClr val="8688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5322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A252347A-73EF-4021-A502-2D02F6F1D190}"/>
              </a:ext>
            </a:extLst>
          </p:cNvPr>
          <p:cNvSpPr/>
          <p:nvPr/>
        </p:nvSpPr>
        <p:spPr>
          <a:xfrm rot="10800000">
            <a:off x="7082970" y="1"/>
            <a:ext cx="5109029" cy="869388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67D406-5165-4360-8C1C-324029DCCE25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Power Pivot &amp; Power Query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B2FFD3E2-DFD0-428B-B260-206367899ED9}"/>
                  </a:ext>
                </a:extLst>
              </p:cNvPr>
              <p:cNvGraphicFramePr/>
              <p:nvPr/>
            </p:nvGraphicFramePr>
            <p:xfrm>
              <a:off x="558292" y="2548383"/>
              <a:ext cx="2128924" cy="232219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B2FFD3E2-DFD0-428B-B260-206367899E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292" y="2548383"/>
                <a:ext cx="2128924" cy="2322197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37F1F1-4B26-2BCB-8280-817AFC4669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8000" y="1109796"/>
            <a:ext cx="5431517" cy="2877174"/>
          </a:xfrm>
          <a:prstGeom prst="round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24B052-5F4C-17FE-F85A-746849678C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338" y="4091475"/>
            <a:ext cx="7220358" cy="255280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26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71C0-1DDC-E317-21D2-38BC2858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9C86698-E647-A824-9A01-02265417977B}"/>
              </a:ext>
            </a:extLst>
          </p:cNvPr>
          <p:cNvSpPr/>
          <p:nvPr/>
        </p:nvSpPr>
        <p:spPr>
          <a:xfrm rot="10800000">
            <a:off x="7082970" y="1"/>
            <a:ext cx="5109029" cy="869388"/>
          </a:xfrm>
          <a:custGeom>
            <a:avLst/>
            <a:gdLst>
              <a:gd name="connsiteX0" fmla="*/ 1310303 w 10988503"/>
              <a:gd name="connsiteY0" fmla="*/ 22 h 1869882"/>
              <a:gd name="connsiteX1" fmla="*/ 6483550 w 10988503"/>
              <a:gd name="connsiteY1" fmla="*/ 1580690 h 1869882"/>
              <a:gd name="connsiteX2" fmla="*/ 10974880 w 10988503"/>
              <a:gd name="connsiteY2" fmla="*/ 1866382 h 1869882"/>
              <a:gd name="connsiteX3" fmla="*/ 10988503 w 10988503"/>
              <a:gd name="connsiteY3" fmla="*/ 1869882 h 1869882"/>
              <a:gd name="connsiteX4" fmla="*/ 0 w 10988503"/>
              <a:gd name="connsiteY4" fmla="*/ 1869882 h 1869882"/>
              <a:gd name="connsiteX5" fmla="*/ 0 w 10988503"/>
              <a:gd name="connsiteY5" fmla="*/ 1794198 h 1869882"/>
              <a:gd name="connsiteX6" fmla="*/ 0 w 10988503"/>
              <a:gd name="connsiteY6" fmla="*/ 334669 h 1869882"/>
              <a:gd name="connsiteX7" fmla="*/ 1310303 w 10988503"/>
              <a:gd name="connsiteY7" fmla="*/ 22 h 186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88503" h="1869882">
                <a:moveTo>
                  <a:pt x="1310303" y="22"/>
                </a:moveTo>
                <a:cubicBezTo>
                  <a:pt x="3087798" y="-7336"/>
                  <a:pt x="4449871" y="1761474"/>
                  <a:pt x="6483550" y="1580690"/>
                </a:cubicBezTo>
                <a:cubicBezTo>
                  <a:pt x="8348226" y="1415442"/>
                  <a:pt x="9844847" y="1591559"/>
                  <a:pt x="10974880" y="1866382"/>
                </a:cubicBezTo>
                <a:lnTo>
                  <a:pt x="10988503" y="1869882"/>
                </a:lnTo>
                <a:lnTo>
                  <a:pt x="0" y="1869882"/>
                </a:lnTo>
                <a:lnTo>
                  <a:pt x="0" y="1794198"/>
                </a:lnTo>
                <a:cubicBezTo>
                  <a:pt x="0" y="1432462"/>
                  <a:pt x="0" y="957720"/>
                  <a:pt x="0" y="334669"/>
                </a:cubicBezTo>
                <a:cubicBezTo>
                  <a:pt x="467797" y="98006"/>
                  <a:pt x="900111" y="1719"/>
                  <a:pt x="1310303" y="22"/>
                </a:cubicBezTo>
                <a:close/>
              </a:path>
            </a:pathLst>
          </a:cu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E8C4A1-AC34-C717-AECB-FFDC40C38F86}"/>
              </a:ext>
            </a:extLst>
          </p:cNvPr>
          <p:cNvSpPr txBox="1"/>
          <p:nvPr/>
        </p:nvSpPr>
        <p:spPr>
          <a:xfrm>
            <a:off x="266700" y="337269"/>
            <a:ext cx="116586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Power Pivot &amp; Power Query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699915B4-94F8-C190-8491-5FD2755774AF}"/>
                  </a:ext>
                </a:extLst>
              </p:cNvPr>
              <p:cNvGraphicFramePr/>
              <p:nvPr/>
            </p:nvGraphicFramePr>
            <p:xfrm>
              <a:off x="558292" y="2548383"/>
              <a:ext cx="2128924" cy="232219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699915B4-94F8-C190-8491-5FD2755774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292" y="2548383"/>
                <a:ext cx="2128924" cy="2322197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16CB36-8362-F946-7999-7F495DE859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40"/>
          <a:stretch>
            <a:fillRect/>
          </a:stretch>
        </p:blipFill>
        <p:spPr>
          <a:xfrm>
            <a:off x="3072697" y="1206659"/>
            <a:ext cx="6799091" cy="2450941"/>
          </a:xfrm>
          <a:prstGeom prst="round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A12DB0-3AA5-38A9-7254-638CD4F79D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23"/>
          <a:stretch>
            <a:fillRect/>
          </a:stretch>
        </p:blipFill>
        <p:spPr>
          <a:xfrm>
            <a:off x="5537708" y="3816221"/>
            <a:ext cx="6096000" cy="286313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24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6509CD6B-CB19-47C3-AFDE-63B72A9F6775}"/>
              </a:ext>
            </a:extLst>
          </p:cNvPr>
          <p:cNvSpPr/>
          <p:nvPr/>
        </p:nvSpPr>
        <p:spPr>
          <a:xfrm>
            <a:off x="1397002" y="2111584"/>
            <a:ext cx="9397998" cy="17470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8D45D9-D04D-404E-80AB-855D80BEF8E4}"/>
              </a:ext>
            </a:extLst>
          </p:cNvPr>
          <p:cNvSpPr/>
          <p:nvPr/>
        </p:nvSpPr>
        <p:spPr>
          <a:xfrm>
            <a:off x="0" y="2286291"/>
            <a:ext cx="12192000" cy="22854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2D3B92B-E20F-4AF3-B6B2-FC251836C85F}"/>
              </a:ext>
            </a:extLst>
          </p:cNvPr>
          <p:cNvSpPr/>
          <p:nvPr/>
        </p:nvSpPr>
        <p:spPr>
          <a:xfrm>
            <a:off x="190500" y="190500"/>
            <a:ext cx="11811000" cy="6477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65C0853-2996-4DE6-ACCB-A959CCC7DA4B}"/>
              </a:ext>
            </a:extLst>
          </p:cNvPr>
          <p:cNvSpPr/>
          <p:nvPr/>
        </p:nvSpPr>
        <p:spPr>
          <a:xfrm>
            <a:off x="1567543" y="2111584"/>
            <a:ext cx="9056914" cy="2634832"/>
          </a:xfrm>
          <a:prstGeom prst="round2SameRect">
            <a:avLst>
              <a:gd name="adj1" fmla="val 0"/>
              <a:gd name="adj2" fmla="val 5238"/>
            </a:avLst>
          </a:prstGeom>
          <a:gradFill>
            <a:gsLst>
              <a:gs pos="0">
                <a:srgbClr val="393762"/>
              </a:gs>
              <a:gs pos="50000">
                <a:srgbClr val="C779D0"/>
              </a:gs>
              <a:gs pos="100000">
                <a:srgbClr val="E48592"/>
              </a:gs>
            </a:gsLst>
            <a:lin ang="27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</a:t>
            </a:r>
            <a:r>
              <a:rPr lang="en-US" sz="7200" dirty="0">
                <a:solidFill>
                  <a:schemeClr val="bg1"/>
                </a:solidFill>
              </a:rPr>
              <a:t>YOU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EF06C73-D25E-44A1-85A5-58BF87BC8532}"/>
              </a:ext>
            </a:extLst>
          </p:cNvPr>
          <p:cNvGrpSpPr/>
          <p:nvPr/>
        </p:nvGrpSpPr>
        <p:grpSpPr>
          <a:xfrm>
            <a:off x="9178832" y="3343025"/>
            <a:ext cx="1153525" cy="2632076"/>
            <a:chOff x="7765802" y="2312265"/>
            <a:chExt cx="1743127" cy="397741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FC32821-C4A0-4A4E-B99D-0C440CFBD683}"/>
                </a:ext>
              </a:extLst>
            </p:cNvPr>
            <p:cNvSpPr/>
            <p:nvPr/>
          </p:nvSpPr>
          <p:spPr>
            <a:xfrm>
              <a:off x="7765802" y="5946242"/>
              <a:ext cx="1743127" cy="34343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5124B78-B00A-4554-8ACA-CC30A7FDB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96116" y="2312265"/>
              <a:ext cx="1323850" cy="3882160"/>
            </a:xfrm>
            <a:prstGeom prst="rect">
              <a:avLst/>
            </a:prstGeom>
          </p:spPr>
        </p:pic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62C2692-DDED-4C36-8F3D-C005BCE68811}"/>
              </a:ext>
            </a:extLst>
          </p:cNvPr>
          <p:cNvCxnSpPr/>
          <p:nvPr/>
        </p:nvCxnSpPr>
        <p:spPr>
          <a:xfrm>
            <a:off x="0" y="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6ECDF7-482B-4631-A0B8-5997F93543C8}"/>
              </a:ext>
            </a:extLst>
          </p:cNvPr>
          <p:cNvCxnSpPr>
            <a:cxnSpLocks/>
          </p:cNvCxnSpPr>
          <p:nvPr/>
        </p:nvCxnSpPr>
        <p:spPr>
          <a:xfrm flipH="1">
            <a:off x="11747500" y="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D98185-5ED5-4200-AB94-ACD0A50571E6}"/>
              </a:ext>
            </a:extLst>
          </p:cNvPr>
          <p:cNvCxnSpPr>
            <a:cxnSpLocks/>
          </p:cNvCxnSpPr>
          <p:nvPr/>
        </p:nvCxnSpPr>
        <p:spPr>
          <a:xfrm flipH="1" flipV="1">
            <a:off x="11747500" y="641350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79547C1-EF99-4FFF-BC2B-6544609941F5}"/>
              </a:ext>
            </a:extLst>
          </p:cNvPr>
          <p:cNvCxnSpPr>
            <a:cxnSpLocks/>
          </p:cNvCxnSpPr>
          <p:nvPr/>
        </p:nvCxnSpPr>
        <p:spPr>
          <a:xfrm flipV="1">
            <a:off x="0" y="6413500"/>
            <a:ext cx="444500" cy="4445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282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2">
      <a:majorFont>
        <a:latin typeface="Century Gothic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492</Words>
  <Application>Microsoft Office PowerPoint</Application>
  <PresentationFormat>Widescreen</PresentationFormat>
  <Paragraphs>77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Calibri Light</vt:lpstr>
      <vt:lpstr>Century Gothic</vt:lpstr>
      <vt:lpstr>Segoe UI</vt:lpstr>
      <vt:lpstr>Segoe UI (Body)</vt:lpstr>
      <vt:lpstr>Tahoma</vt:lpstr>
      <vt:lpstr>Times New Roman</vt:lpstr>
      <vt:lpstr>Verdana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trisnawanugroho</dc:creator>
  <cp:lastModifiedBy>S.Krishna Kumar</cp:lastModifiedBy>
  <cp:revision>46</cp:revision>
  <dcterms:created xsi:type="dcterms:W3CDTF">2019-02-11T09:56:27Z</dcterms:created>
  <dcterms:modified xsi:type="dcterms:W3CDTF">2025-09-01T11:01:25Z</dcterms:modified>
</cp:coreProperties>
</file>